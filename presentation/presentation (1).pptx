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focuses only on the relationship between release year and duration, as requested. We separated movies and TV shows because duration is measured differently for each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contains 8,807 Netflix titles in total. This gives us enough observations to explore broad patterns, while still keeping the analysis focused on the specific question of duration versus release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 was not to describe the full Netflix catalog, but to test one relationship only: whether release year is associated with how long a title is. Because movies and TV shows use different duration measures, they were analyzed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analytical flow. First, the relevant variables were prepared. Then the dataset was split by content type, visualized, and interpreted to understand whether any trend existed between release year and duration.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movie side of the analysis. The trend is negative, but only weakly so. That means release year may have some association with runtime, yet the effect is not large enough to suggest a strong structural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TV shows, the relationship is even weaker than for movies. The number of seasons does not change much in a clear way across release years, so release year alone is not a useful predictor of TV show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both analyses side by side helps clarify the overall finding. Movies show a slight directional trend, while TV shows show almost none. This suggests the relationship depends on content type and remains limited overall.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takeaway to emphasize during the presentation. The relationship exists more clearly for movies than for TV shows, but even then it remains weak rather than dramatic.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limits are important to mention to the doctor. The dataset captures Netflix titles, not all entertainment releases. Also, duration is fundamentally different for films and series, which is why we avoided combining them into one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analysis supports a careful conclusion rather than a dramatic claim. Release year has some limited association with movie runtime, but very little connection with TV show seasons. Overall, duration is influenced by more than release timing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10817352" y="6400800"/>
            <a:ext cx="1097280" cy="320040"/>
          </a:xfrm>
          <a:prstGeom prst="rect">
            <a:avLst/>
          </a:prstGeom>
          <a:noFill/>
          <a:ln/>
        </p:spPr>
        <p:txBody>
          <a:bodyPr wrap="square" rtlCol="0" anchor="ctr"/>
          <a:lstStyle/>
          <a:p>
            <a:pPr algn="r" indent="0" marL="0">
              <a:buNone/>
            </a:pPr>
            <a:r>
              <a:rPr lang="en-US" sz="1000" dirty="0">
                <a:solidFill>
                  <a:srgbClr val="888888"/>
                </a:solidFill>
                <a:latin typeface="Calibri" pitchFamily="34" charset="0"/>
                <a:ea typeface="Calibri" pitchFamily="34" charset="-122"/>
                <a:cs typeface="Calibri" pitchFamily="34" charset="-120"/>
              </a:rPr>
              <a:t>1 / 10</a:t>
            </a:r>
            <a:endParaRPr lang="en-US" sz="1000" dirty="0"/>
          </a:p>
        </p:txBody>
      </p:sp>
      <p:sp>
        <p:nvSpPr>
          <p:cNvPr id="4" name="Text 1"/>
          <p:cNvSpPr/>
          <p:nvPr/>
        </p:nvSpPr>
        <p:spPr>
          <a:xfrm>
            <a:off x="914400" y="2011680"/>
            <a:ext cx="10360152" cy="1371600"/>
          </a:xfrm>
          <a:prstGeom prst="rect">
            <a:avLst/>
          </a:prstGeom>
          <a:noFill/>
          <a:ln/>
          <a:effectLst>
            <a:outerShdw sx="100000" sy="100000" kx="0" ky="0" algn="bl" rotWithShape="0" blurRad="76200" dist="25400" dir="16200000">
              <a:srgbClr val="000000">
                <a:alpha val="20000"/>
              </a:srgbClr>
            </a:outerShdw>
          </a:effectLst>
        </p:spPr>
        <p:txBody>
          <a:bodyPr wrap="square" rtlCol="0" anchor="ctr"/>
          <a:lstStyle/>
          <a:p>
            <a:pPr algn="ctr" indent="0" marL="0">
              <a:buNone/>
            </a:pPr>
            <a:r>
              <a:rPr lang="en-US" sz="3600" b="1" dirty="0">
                <a:solidFill>
                  <a:srgbClr val="222222"/>
                </a:solidFill>
                <a:latin typeface="Calibri" pitchFamily="34" charset="0"/>
                <a:ea typeface="Calibri" pitchFamily="34" charset="-122"/>
                <a:cs typeface="Calibri" pitchFamily="34" charset="-120"/>
              </a:rPr>
              <a:t>Netflix Analysis: Duration vs. Release Year</a:t>
            </a:r>
            <a:endParaRPr lang="en-US" sz="3600" dirty="0"/>
          </a:p>
        </p:txBody>
      </p:sp>
      <p:sp>
        <p:nvSpPr>
          <p:cNvPr id="5" name="Text 2"/>
          <p:cNvSpPr/>
          <p:nvPr/>
        </p:nvSpPr>
        <p:spPr>
          <a:xfrm>
            <a:off x="914400" y="3474720"/>
            <a:ext cx="10360152" cy="731520"/>
          </a:xfrm>
          <a:prstGeom prst="rect">
            <a:avLst/>
          </a:prstGeom>
          <a:noFill/>
          <a:ln/>
        </p:spPr>
        <p:txBody>
          <a:bodyPr wrap="square" rtlCol="0" anchor="ctr"/>
          <a:lstStyle/>
          <a:p>
            <a:pPr algn="ctr" indent="0" marL="0">
              <a:buNone/>
            </a:pPr>
            <a:r>
              <a:rPr lang="en-US" sz="2000" dirty="0">
                <a:solidFill>
                  <a:srgbClr val="888888"/>
                </a:solidFill>
                <a:latin typeface="Calibri" pitchFamily="34" charset="0"/>
                <a:ea typeface="Calibri" pitchFamily="34" charset="-122"/>
                <a:cs typeface="Calibri" pitchFamily="34" charset="-120"/>
              </a:rPr>
              <a:t>Examining whether newer Netflix titles tend to be shorter</a:t>
            </a:r>
            <a:endParaRPr lang="en-US" sz="2000" dirty="0"/>
          </a:p>
        </p:txBody>
      </p:sp>
      <p:sp>
        <p:nvSpPr>
          <p:cNvPr id="6" name="Shape 3"/>
          <p:cNvSpPr/>
          <p:nvPr/>
        </p:nvSpPr>
        <p:spPr>
          <a:xfrm>
            <a:off x="5545836" y="4389120"/>
            <a:ext cx="1097280" cy="54864"/>
          </a:xfrm>
          <a:prstGeom prst="rect">
            <a:avLst/>
          </a:prstGeom>
          <a:solidFill>
            <a:srgbClr val="DA775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DA7756"/>
          </a:solidFill>
          <a:ln/>
        </p:spPr>
      </p:sp>
      <p:sp>
        <p:nvSpPr>
          <p:cNvPr id="3" name="Text 1"/>
          <p:cNvSpPr/>
          <p:nvPr/>
        </p:nvSpPr>
        <p:spPr>
          <a:xfrm>
            <a:off x="10817352" y="6400800"/>
            <a:ext cx="1097280" cy="320040"/>
          </a:xfrm>
          <a:prstGeom prst="rect">
            <a:avLst/>
          </a:prstGeom>
          <a:noFill/>
          <a:ln/>
        </p:spPr>
        <p:txBody>
          <a:bodyPr wrap="square" rtlCol="0" anchor="ctr"/>
          <a:lstStyle/>
          <a:p>
            <a:pPr algn="r" indent="0" marL="0">
              <a:buNone/>
            </a:pPr>
            <a:r>
              <a:rPr lang="en-US" sz="1000" dirty="0">
                <a:solidFill>
                  <a:srgbClr val="888888"/>
                </a:solidFill>
                <a:latin typeface="Calibri" pitchFamily="34" charset="0"/>
                <a:ea typeface="Calibri" pitchFamily="34" charset="-122"/>
                <a:cs typeface="Calibri" pitchFamily="34" charset="-120"/>
              </a:rPr>
              <a:t>2 / 10</a:t>
            </a:r>
            <a:endParaRPr lang="en-US" sz="1000" dirty="0"/>
          </a:p>
        </p:txBody>
      </p:sp>
      <p:sp>
        <p:nvSpPr>
          <p:cNvPr id="4" name="Shape 2"/>
          <p:cNvSpPr/>
          <p:nvPr/>
        </p:nvSpPr>
        <p:spPr>
          <a:xfrm>
            <a:off x="0" y="6803136"/>
            <a:ext cx="1828800" cy="54864"/>
          </a:xfrm>
          <a:prstGeom prst="rect">
            <a:avLst/>
          </a:prstGeom>
          <a:solidFill>
            <a:srgbClr val="DA7756"/>
          </a:solidFill>
          <a:ln/>
        </p:spPr>
      </p:sp>
      <p:sp>
        <p:nvSpPr>
          <p:cNvPr id="6" name="Text 3"/>
          <p:cNvSpPr/>
          <p:nvPr/>
        </p:nvSpPr>
        <p:spPr>
          <a:xfrm>
            <a:off x="914400" y="1097280"/>
            <a:ext cx="5180076" cy="548640"/>
          </a:xfrm>
          <a:prstGeom prst="rect">
            <a:avLst/>
          </a:prstGeom>
          <a:noFill/>
          <a:ln/>
        </p:spPr>
        <p:txBody>
          <a:bodyPr wrap="square" rtlCol="0" anchor="ctr"/>
          <a:lstStyle/>
          <a:p>
            <a:pPr algn="l" indent="0" marL="0">
              <a:buNone/>
            </a:pPr>
            <a:r>
              <a:rPr lang="en-US" sz="1800" dirty="0">
                <a:solidFill>
                  <a:srgbClr val="888888"/>
                </a:solidFill>
                <a:latin typeface="Calibri" pitchFamily="34" charset="0"/>
                <a:ea typeface="Calibri" pitchFamily="34" charset="-122"/>
                <a:cs typeface="Calibri" pitchFamily="34" charset="-120"/>
              </a:rPr>
              <a:t>Dataset Scope</a:t>
            </a:r>
            <a:endParaRPr lang="en-US" sz="1800" dirty="0"/>
          </a:p>
        </p:txBody>
      </p:sp>
      <p:sp>
        <p:nvSpPr>
          <p:cNvPr id="7" name="Text 4"/>
          <p:cNvSpPr/>
          <p:nvPr/>
        </p:nvSpPr>
        <p:spPr>
          <a:xfrm>
            <a:off x="914400" y="1828800"/>
            <a:ext cx="5180076" cy="1828800"/>
          </a:xfrm>
          <a:prstGeom prst="rect">
            <a:avLst/>
          </a:prstGeom>
          <a:noFill/>
          <a:ln/>
          <a:effectLst>
            <a:outerShdw sx="100000" sy="100000" kx="0" ky="0" algn="bl" rotWithShape="0" blurRad="101600" dist="25400" dir="16200000">
              <a:srgbClr val="000000">
                <a:alpha val="15000"/>
              </a:srgbClr>
            </a:outerShdw>
          </a:effectLst>
        </p:spPr>
        <p:txBody>
          <a:bodyPr wrap="square" rtlCol="0" anchor="ctr"/>
          <a:lstStyle/>
          <a:p>
            <a:pPr algn="l" indent="0" marL="0">
              <a:buNone/>
            </a:pPr>
            <a:r>
              <a:rPr lang="en-US" sz="6000" b="1" dirty="0">
                <a:solidFill>
                  <a:srgbClr val="DA7756"/>
                </a:solidFill>
                <a:latin typeface="Calibri" pitchFamily="34" charset="0"/>
                <a:ea typeface="Calibri" pitchFamily="34" charset="-122"/>
                <a:cs typeface="Calibri" pitchFamily="34" charset="-120"/>
              </a:rPr>
              <a:t>8,807</a:t>
            </a:r>
            <a:endParaRPr lang="en-US" sz="6000" dirty="0"/>
          </a:p>
        </p:txBody>
      </p:sp>
      <p:sp>
        <p:nvSpPr>
          <p:cNvPr id="8" name="Text 5"/>
          <p:cNvSpPr/>
          <p:nvPr/>
        </p:nvSpPr>
        <p:spPr>
          <a:xfrm>
            <a:off x="914400" y="3657600"/>
            <a:ext cx="5180076" cy="548640"/>
          </a:xfrm>
          <a:prstGeom prst="rect">
            <a:avLst/>
          </a:prstGeom>
          <a:noFill/>
          <a:ln/>
        </p:spPr>
        <p:txBody>
          <a:bodyPr wrap="square" rtlCol="0" anchor="ctr"/>
          <a:lstStyle/>
          <a:p>
            <a:pPr algn="l" indent="0" marL="0">
              <a:buNone/>
            </a:pPr>
            <a:r>
              <a:rPr lang="en-US" sz="1800" dirty="0">
                <a:solidFill>
                  <a:srgbClr val="888888"/>
                </a:solidFill>
                <a:latin typeface="Calibri" pitchFamily="34" charset="0"/>
                <a:ea typeface="Calibri" pitchFamily="34" charset="-122"/>
                <a:cs typeface="Calibri" pitchFamily="34" charset="-120"/>
              </a:rPr>
              <a:t>Netflix titles analyzed</a:t>
            </a:r>
            <a:endParaRPr lang="en-US" sz="1800" dirty="0"/>
          </a:p>
        </p:txBody>
      </p:sp>
      <p:sp>
        <p:nvSpPr>
          <p:cNvPr id="9" name="Shape 6"/>
          <p:cNvSpPr/>
          <p:nvPr/>
        </p:nvSpPr>
        <p:spPr>
          <a:xfrm>
            <a:off x="6231636" y="1371600"/>
            <a:ext cx="18288" cy="3657600"/>
          </a:xfrm>
          <a:prstGeom prst="rect">
            <a:avLst/>
          </a:prstGeom>
          <a:solidFill>
            <a:srgbClr val="DA7756">
              <a:alpha val="30000"/>
            </a:srgbClr>
          </a:solidFill>
          <a:ln/>
        </p:spPr>
      </p:sp>
      <p:sp>
        <p:nvSpPr>
          <p:cNvPr id="10" name="Text 7"/>
          <p:cNvSpPr/>
          <p:nvPr/>
        </p:nvSpPr>
        <p:spPr>
          <a:xfrm>
            <a:off x="6551676" y="1828800"/>
            <a:ext cx="5180076" cy="3200400"/>
          </a:xfrm>
          <a:prstGeom prst="rect">
            <a:avLst/>
          </a:prstGeom>
          <a:noFill/>
          <a:ln/>
        </p:spPr>
        <p:txBody>
          <a:bodyPr wrap="square" rtlCol="0" anchor="ctr"/>
          <a:lstStyle/>
          <a:p>
            <a:pPr marL="342900" indent="-342900">
              <a:lnSpc>
                <a:spcPct val="120000"/>
              </a:lnSpc>
              <a:spcAft>
                <a:spcPts val="1000"/>
              </a:spcAft>
              <a:buSzPct val="100000"/>
              <a:buChar char="•"/>
            </a:pPr>
            <a:r>
              <a:rPr lang="en-US" sz="1600" b="1" dirty="0">
                <a:solidFill>
                  <a:srgbClr val="444444"/>
                </a:solidFill>
                <a:latin typeface="Calibri" pitchFamily="34" charset="0"/>
                <a:ea typeface="Calibri" pitchFamily="34" charset="-122"/>
                <a:cs typeface="Calibri" pitchFamily="34" charset="-120"/>
              </a:rPr>
              <a:t>6,131 movies</a:t>
            </a:r>
            <a:pPr indent="0" marL="0">
              <a:buNone/>
            </a:pPr>
            <a:r>
              <a:rPr lang="en-US" sz="1600" dirty="0">
                <a:solidFill>
                  <a:srgbClr val="444444"/>
                </a:solidFill>
                <a:latin typeface="Calibri" pitchFamily="34" charset="0"/>
                <a:ea typeface="Calibri" pitchFamily="34" charset="-122"/>
                <a:cs typeface="Calibri" pitchFamily="34" charset="-120"/>
              </a:rPr>
              <a:t> and </a:t>
            </a:r>
            <a:pPr indent="0" marL="0">
              <a:buNone/>
            </a:pPr>
            <a:r>
              <a:rPr lang="en-US" sz="1600" b="1" dirty="0">
                <a:solidFill>
                  <a:srgbClr val="444444"/>
                </a:solidFill>
                <a:latin typeface="Calibri" pitchFamily="34" charset="0"/>
                <a:ea typeface="Calibri" pitchFamily="34" charset="-122"/>
                <a:cs typeface="Calibri" pitchFamily="34" charset="-120"/>
              </a:rPr>
              <a:t>2,676 TV shows</a:t>
            </a:r>
            <a:pPr indent="0" marL="0">
              <a:buNone/>
            </a:pPr>
            <a:r>
              <a:rPr lang="en-US" sz="1600" dirty="0">
                <a:solidFill>
                  <a:srgbClr val="444444"/>
                </a:solidFill>
                <a:latin typeface="Calibri" pitchFamily="34" charset="0"/>
                <a:ea typeface="Calibri" pitchFamily="34" charset="-122"/>
                <a:cs typeface="Calibri" pitchFamily="34" charset="-120"/>
              </a:rPr>
              <a:t> were included</a:t>
            </a:r>
            <a:endParaRPr lang="en-US" sz="1600" dirty="0"/>
          </a:p>
          <a:p>
            <a:pPr marL="342900" indent="-342900">
              <a:lnSpc>
                <a:spcPct val="120000"/>
              </a:lnSpc>
              <a:spcAft>
                <a:spcPts val="1000"/>
              </a:spcAft>
              <a:buSzPct val="100000"/>
              <a:buChar char="•"/>
            </a:pPr>
            <a:r>
              <a:rPr lang="en-US" sz="1600" b="1" dirty="0">
                <a:solidFill>
                  <a:srgbClr val="444444"/>
                </a:solidFill>
                <a:latin typeface="Calibri" pitchFamily="34" charset="0"/>
                <a:ea typeface="Calibri" pitchFamily="34" charset="-122"/>
                <a:cs typeface="Calibri" pitchFamily="34" charset="-120"/>
              </a:rPr>
              <a:t>Release year</a:t>
            </a:r>
            <a:pPr indent="0" marL="0">
              <a:buNone/>
            </a:pPr>
            <a:r>
              <a:rPr lang="en-US" sz="1600" dirty="0">
                <a:solidFill>
                  <a:srgbClr val="444444"/>
                </a:solidFill>
                <a:latin typeface="Calibri" pitchFamily="34" charset="0"/>
                <a:ea typeface="Calibri" pitchFamily="34" charset="-122"/>
                <a:cs typeface="Calibri" pitchFamily="34" charset="-120"/>
              </a:rPr>
              <a:t> and </a:t>
            </a:r>
            <a:pPr indent="0" marL="0">
              <a:buNone/>
            </a:pPr>
            <a:r>
              <a:rPr lang="en-US" sz="1600" b="1" dirty="0">
                <a:solidFill>
                  <a:srgbClr val="444444"/>
                </a:solidFill>
                <a:latin typeface="Calibri" pitchFamily="34" charset="0"/>
                <a:ea typeface="Calibri" pitchFamily="34" charset="-122"/>
                <a:cs typeface="Calibri" pitchFamily="34" charset="-120"/>
              </a:rPr>
              <a:t>duration</a:t>
            </a:r>
            <a:pPr indent="0" marL="0">
              <a:buNone/>
            </a:pPr>
            <a:r>
              <a:rPr lang="en-US" sz="1600" dirty="0">
                <a:solidFill>
                  <a:srgbClr val="444444"/>
                </a:solidFill>
                <a:latin typeface="Calibri" pitchFamily="34" charset="0"/>
                <a:ea typeface="Calibri" pitchFamily="34" charset="-122"/>
                <a:cs typeface="Calibri" pitchFamily="34" charset="-120"/>
              </a:rPr>
              <a:t> were the key variables analyzed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DA7756"/>
          </a:solidFill>
          <a:ln/>
        </p:spPr>
      </p:sp>
      <p:sp>
        <p:nvSpPr>
          <p:cNvPr id="3" name="Text 1"/>
          <p:cNvSpPr/>
          <p:nvPr/>
        </p:nvSpPr>
        <p:spPr>
          <a:xfrm>
            <a:off x="10817352" y="6400800"/>
            <a:ext cx="1097280" cy="320040"/>
          </a:xfrm>
          <a:prstGeom prst="rect">
            <a:avLst/>
          </a:prstGeom>
          <a:noFill/>
          <a:ln/>
        </p:spPr>
        <p:txBody>
          <a:bodyPr wrap="square" rtlCol="0" anchor="ctr"/>
          <a:lstStyle/>
          <a:p>
            <a:pPr algn="r" indent="0" marL="0">
              <a:buNone/>
            </a:pPr>
            <a:r>
              <a:rPr lang="en-US" sz="1000" dirty="0">
                <a:solidFill>
                  <a:srgbClr val="888888"/>
                </a:solidFill>
                <a:latin typeface="Calibri" pitchFamily="34" charset="0"/>
                <a:ea typeface="Calibri" pitchFamily="34" charset="-122"/>
                <a:cs typeface="Calibri" pitchFamily="34" charset="-120"/>
              </a:rPr>
              <a:t>3 / 10</a:t>
            </a:r>
            <a:endParaRPr lang="en-US" sz="1000" dirty="0"/>
          </a:p>
        </p:txBody>
      </p:sp>
      <p:sp>
        <p:nvSpPr>
          <p:cNvPr id="4" name="Shape 2"/>
          <p:cNvSpPr/>
          <p:nvPr/>
        </p:nvSpPr>
        <p:spPr>
          <a:xfrm>
            <a:off x="0" y="6803136"/>
            <a:ext cx="1828800" cy="54864"/>
          </a:xfrm>
          <a:prstGeom prst="rect">
            <a:avLst/>
          </a:prstGeom>
          <a:solidFill>
            <a:srgbClr val="DA7756"/>
          </a:solidFill>
          <a:ln/>
        </p:spPr>
      </p:sp>
      <p:sp>
        <p:nvSpPr>
          <p:cNvPr id="6" name="Text 3"/>
          <p:cNvSpPr/>
          <p:nvPr/>
        </p:nvSpPr>
        <p:spPr>
          <a:xfrm>
            <a:off x="914400" y="731520"/>
            <a:ext cx="10360152" cy="731520"/>
          </a:xfrm>
          <a:prstGeom prst="rect">
            <a:avLst/>
          </a:prstGeom>
          <a:noFill/>
          <a:ln/>
        </p:spPr>
        <p:txBody>
          <a:bodyPr wrap="square"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Research Focus</a:t>
            </a:r>
            <a:endParaRPr lang="en-US" sz="2800" dirty="0"/>
          </a:p>
        </p:txBody>
      </p:sp>
      <p:sp>
        <p:nvSpPr>
          <p:cNvPr id="7" name="Text 4"/>
          <p:cNvSpPr/>
          <p:nvPr/>
        </p:nvSpPr>
        <p:spPr>
          <a:xfrm>
            <a:off x="914400" y="1645920"/>
            <a:ext cx="10360152" cy="4297680"/>
          </a:xfrm>
          <a:prstGeom prst="rect">
            <a:avLst/>
          </a:prstGeom>
          <a:noFill/>
          <a:ln/>
        </p:spPr>
        <p:txBody>
          <a:bodyPr wrap="square" rtlCol="0" anchor="t"/>
          <a:lstStyle/>
          <a:p>
            <a:pPr marL="342900" indent="-342900">
              <a:lnSpc>
                <a:spcPct val="120000"/>
              </a:lnSpc>
              <a:spcAft>
                <a:spcPts val="800"/>
              </a:spcAft>
              <a:buSzPct val="100000"/>
              <a:buChar char="•"/>
            </a:pPr>
            <a:r>
              <a:rPr lang="en-US" sz="1600" b="1" dirty="0">
                <a:solidFill>
                  <a:srgbClr val="444444"/>
                </a:solidFill>
                <a:latin typeface="Calibri" pitchFamily="34" charset="0"/>
                <a:ea typeface="Calibri" pitchFamily="34" charset="-122"/>
                <a:cs typeface="Calibri" pitchFamily="34" charset="-120"/>
              </a:rPr>
              <a:t>Question:</a:t>
            </a:r>
            <a:pPr indent="0" marL="0">
              <a:buNone/>
            </a:pPr>
            <a:r>
              <a:rPr lang="en-US" sz="1600" dirty="0">
                <a:solidFill>
                  <a:srgbClr val="444444"/>
                </a:solidFill>
                <a:latin typeface="Calibri" pitchFamily="34" charset="0"/>
                <a:ea typeface="Calibri" pitchFamily="34" charset="-122"/>
                <a:cs typeface="Calibri" pitchFamily="34" charset="-120"/>
              </a:rPr>
              <a:t> Does release year relate to title duration?</a:t>
            </a:r>
            <a:endParaRPr lang="en-US" sz="1600" dirty="0"/>
          </a:p>
          <a:p>
            <a:pPr marL="342900" indent="-342900">
              <a:lnSpc>
                <a:spcPct val="120000"/>
              </a:lnSpc>
              <a:spcAft>
                <a:spcPts val="800"/>
              </a:spcAft>
              <a:buSzPct val="100000"/>
              <a:buChar char="•"/>
            </a:pPr>
            <a:r>
              <a:rPr lang="en-US" sz="1600" b="1" dirty="0">
                <a:solidFill>
                  <a:srgbClr val="444444"/>
                </a:solidFill>
                <a:latin typeface="Calibri" pitchFamily="34" charset="0"/>
                <a:ea typeface="Calibri" pitchFamily="34" charset="-122"/>
                <a:cs typeface="Calibri" pitchFamily="34" charset="-120"/>
              </a:rPr>
              <a:t>Movies:</a:t>
            </a:r>
            <a:pPr indent="0" marL="0">
              <a:buNone/>
            </a:pPr>
            <a:r>
              <a:rPr lang="en-US" sz="1600" dirty="0">
                <a:solidFill>
                  <a:srgbClr val="444444"/>
                </a:solidFill>
                <a:latin typeface="Calibri" pitchFamily="34" charset="0"/>
                <a:ea typeface="Calibri" pitchFamily="34" charset="-122"/>
                <a:cs typeface="Calibri" pitchFamily="34" charset="-120"/>
              </a:rPr>
              <a:t> Duration measured in minutes</a:t>
            </a:r>
            <a:endParaRPr lang="en-US" sz="1600" dirty="0"/>
          </a:p>
          <a:p>
            <a:pPr marL="342900" indent="-342900">
              <a:lnSpc>
                <a:spcPct val="120000"/>
              </a:lnSpc>
              <a:spcAft>
                <a:spcPts val="800"/>
              </a:spcAft>
              <a:buSzPct val="100000"/>
              <a:buChar char="•"/>
            </a:pPr>
            <a:r>
              <a:rPr lang="en-US" sz="1600" b="1" dirty="0">
                <a:solidFill>
                  <a:srgbClr val="444444"/>
                </a:solidFill>
                <a:latin typeface="Calibri" pitchFamily="34" charset="0"/>
                <a:ea typeface="Calibri" pitchFamily="34" charset="-122"/>
                <a:cs typeface="Calibri" pitchFamily="34" charset="-120"/>
              </a:rPr>
              <a:t>TV shows:</a:t>
            </a:r>
            <a:pPr indent="0" marL="0">
              <a:buNone/>
            </a:pPr>
            <a:r>
              <a:rPr lang="en-US" sz="1600" dirty="0">
                <a:solidFill>
                  <a:srgbClr val="444444"/>
                </a:solidFill>
                <a:latin typeface="Calibri" pitchFamily="34" charset="0"/>
                <a:ea typeface="Calibri" pitchFamily="34" charset="-122"/>
                <a:cs typeface="Calibri" pitchFamily="34" charset="-120"/>
              </a:rPr>
              <a:t> Duration measured in number of seasons</a:t>
            </a:r>
            <a:endParaRPr lang="en-US" sz="1600" dirty="0"/>
          </a:p>
          <a:p>
            <a:pPr marL="342900" indent="-342900">
              <a:lnSpc>
                <a:spcPct val="120000"/>
              </a:lnSpc>
              <a:spcAft>
                <a:spcPts val="800"/>
              </a:spcAft>
              <a:buSzPct val="100000"/>
              <a:buChar char="•"/>
            </a:pPr>
            <a:r>
              <a:rPr lang="en-US" sz="1600" b="1" dirty="0">
                <a:solidFill>
                  <a:srgbClr val="444444"/>
                </a:solidFill>
                <a:latin typeface="Calibri" pitchFamily="34" charset="0"/>
                <a:ea typeface="Calibri" pitchFamily="34" charset="-122"/>
                <a:cs typeface="Calibri" pitchFamily="34" charset="-120"/>
              </a:rPr>
              <a:t>Goal:</a:t>
            </a:r>
            <a:pPr indent="0" marL="0">
              <a:buNone/>
            </a:pPr>
            <a:r>
              <a:rPr lang="en-US" sz="1600" dirty="0">
                <a:solidFill>
                  <a:srgbClr val="444444"/>
                </a:solidFill>
                <a:latin typeface="Calibri" pitchFamily="34" charset="0"/>
                <a:ea typeface="Calibri" pitchFamily="34" charset="-122"/>
                <a:cs typeface="Calibri" pitchFamily="34" charset="-120"/>
              </a:rPr>
              <a:t> Identify whether newer titles differ in length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DA7756"/>
          </a:solidFill>
          <a:ln/>
        </p:spPr>
      </p:sp>
      <p:sp>
        <p:nvSpPr>
          <p:cNvPr id="3" name="Text 1"/>
          <p:cNvSpPr/>
          <p:nvPr/>
        </p:nvSpPr>
        <p:spPr>
          <a:xfrm>
            <a:off x="10817352" y="6400800"/>
            <a:ext cx="1097280" cy="320040"/>
          </a:xfrm>
          <a:prstGeom prst="rect">
            <a:avLst/>
          </a:prstGeom>
          <a:noFill/>
          <a:ln/>
        </p:spPr>
        <p:txBody>
          <a:bodyPr wrap="square" rtlCol="0" anchor="ctr"/>
          <a:lstStyle/>
          <a:p>
            <a:pPr algn="r" indent="0" marL="0">
              <a:buNone/>
            </a:pPr>
            <a:r>
              <a:rPr lang="en-US" sz="1000" dirty="0">
                <a:solidFill>
                  <a:srgbClr val="888888"/>
                </a:solidFill>
                <a:latin typeface="Calibri" pitchFamily="34" charset="0"/>
                <a:ea typeface="Calibri" pitchFamily="34" charset="-122"/>
                <a:cs typeface="Calibri" pitchFamily="34" charset="-120"/>
              </a:rPr>
              <a:t>4 / 10</a:t>
            </a:r>
            <a:endParaRPr lang="en-US" sz="1000" dirty="0"/>
          </a:p>
        </p:txBody>
      </p:sp>
      <p:sp>
        <p:nvSpPr>
          <p:cNvPr id="4" name="Shape 2"/>
          <p:cNvSpPr/>
          <p:nvPr/>
        </p:nvSpPr>
        <p:spPr>
          <a:xfrm>
            <a:off x="0" y="6803136"/>
            <a:ext cx="1828800" cy="54864"/>
          </a:xfrm>
          <a:prstGeom prst="rect">
            <a:avLst/>
          </a:prstGeom>
          <a:solidFill>
            <a:srgbClr val="DA7756"/>
          </a:solidFill>
          <a:ln/>
        </p:spPr>
      </p:sp>
      <p:sp>
        <p:nvSpPr>
          <p:cNvPr id="6" name="Text 3"/>
          <p:cNvSpPr/>
          <p:nvPr/>
        </p:nvSpPr>
        <p:spPr>
          <a:xfrm>
            <a:off x="914400" y="457200"/>
            <a:ext cx="10360152" cy="731520"/>
          </a:xfrm>
          <a:prstGeom prst="rect">
            <a:avLst/>
          </a:prstGeom>
          <a:noFill/>
          <a:ln/>
        </p:spPr>
        <p:txBody>
          <a:bodyPr wrap="square"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Analysis Approach</a:t>
            </a:r>
            <a:endParaRPr lang="en-US" sz="2800" dirty="0"/>
          </a:p>
        </p:txBody>
      </p:sp>
      <p:sp>
        <p:nvSpPr>
          <p:cNvPr id="7" name="Shape 4"/>
          <p:cNvSpPr/>
          <p:nvPr/>
        </p:nvSpPr>
        <p:spPr>
          <a:xfrm>
            <a:off x="914400" y="1737360"/>
            <a:ext cx="2315718" cy="4114800"/>
          </a:xfrm>
          <a:prstGeom prst="roundRect">
            <a:avLst>
              <a:gd name="adj" fmla="val 3949"/>
            </a:avLst>
          </a:prstGeom>
          <a:solidFill>
            <a:srgbClr val="DA7756">
              <a:alpha val="15000"/>
            </a:srgbClr>
          </a:solidFill>
          <a:ln w="12700">
            <a:solidFill>
              <a:srgbClr val="DA7756">
                <a:alpha val="40000"/>
              </a:srgbClr>
            </a:solidFill>
            <a:prstDash val="solid"/>
          </a:ln>
        </p:spPr>
      </p:sp>
      <p:sp>
        <p:nvSpPr>
          <p:cNvPr id="8" name="Text 5"/>
          <p:cNvSpPr/>
          <p:nvPr/>
        </p:nvSpPr>
        <p:spPr>
          <a:xfrm>
            <a:off x="1051560" y="1920240"/>
            <a:ext cx="2041398" cy="3749040"/>
          </a:xfrm>
          <a:prstGeom prst="rect">
            <a:avLst/>
          </a:prstGeom>
          <a:noFill/>
          <a:ln/>
        </p:spPr>
        <p:txBody>
          <a:bodyPr wrap="square" rtlCol="0" anchor="ctr"/>
          <a:lstStyle/>
          <a:p>
            <a:pPr algn="ctr" indent="0" marL="0">
              <a:lnSpc>
                <a:spcPct val="130000"/>
              </a:lnSpc>
              <a:buNone/>
            </a:pPr>
            <a:r>
              <a:rPr lang="en-US" sz="1100" dirty="0">
                <a:solidFill>
                  <a:srgbClr val="222222"/>
                </a:solidFill>
                <a:latin typeface="Calibri" pitchFamily="34" charset="0"/>
                <a:ea typeface="Calibri" pitchFamily="34" charset="-122"/>
                <a:cs typeface="Calibri" pitchFamily="34" charset="-120"/>
              </a:rPr>
              <a:t>1</a:t>
            </a:r>
            <a:endParaRPr lang="en-US" sz="1100" dirty="0"/>
          </a:p>
          <a:p>
            <a:pPr algn="ctr" indent="0" marL="0">
              <a:lnSpc>
                <a:spcPct val="130000"/>
              </a:lnSpc>
              <a:buNone/>
            </a:pPr>
            <a:r>
              <a:rPr lang="en-US" sz="1100" dirty="0">
                <a:solidFill>
                  <a:srgbClr val="222222"/>
                </a:solidFill>
                <a:latin typeface="Calibri" pitchFamily="34" charset="0"/>
                <a:ea typeface="Calibri" pitchFamily="34" charset="-122"/>
                <a:cs typeface="Calibri" pitchFamily="34" charset="-120"/>
              </a:rPr>
              <a:t>Prepare Variables</a:t>
            </a:r>
            <a:endParaRPr lang="en-US" sz="1100" dirty="0"/>
          </a:p>
          <a:p>
            <a:pPr algn="ctr" indent="0" marL="0">
              <a:lnSpc>
                <a:spcPct val="130000"/>
              </a:lnSpc>
              <a:buNone/>
            </a:pPr>
            <a:r>
              <a:rPr lang="en-US" sz="1100" dirty="0">
                <a:solidFill>
                  <a:srgbClr val="222222"/>
                </a:solidFill>
                <a:latin typeface="Calibri" pitchFamily="34" charset="0"/>
                <a:ea typeface="Calibri" pitchFamily="34" charset="-122"/>
                <a:cs typeface="Calibri" pitchFamily="34" charset="-120"/>
              </a:rPr>
              <a:t>Use release year and duration fields</a:t>
            </a:r>
            <a:endParaRPr lang="en-US" sz="1100" dirty="0"/>
          </a:p>
        </p:txBody>
      </p:sp>
      <p:sp>
        <p:nvSpPr>
          <p:cNvPr id="9" name="Text 6"/>
          <p:cNvSpPr/>
          <p:nvPr/>
        </p:nvSpPr>
        <p:spPr>
          <a:xfrm>
            <a:off x="3230118" y="2862072"/>
            <a:ext cx="365760" cy="457200"/>
          </a:xfrm>
          <a:prstGeom prst="rect">
            <a:avLst/>
          </a:prstGeom>
          <a:noFill/>
          <a:ln/>
        </p:spPr>
        <p:txBody>
          <a:bodyPr wrap="square" rtlCol="0" anchor="ctr"/>
          <a:lstStyle/>
          <a:p>
            <a:pPr algn="ctr" indent="0" marL="0">
              <a:buNone/>
            </a:pPr>
            <a:r>
              <a:rPr lang="en-US" sz="1800" dirty="0">
                <a:solidFill>
                  <a:srgbClr val="DA7756"/>
                </a:solidFill>
                <a:latin typeface="Calibri" pitchFamily="34" charset="0"/>
                <a:ea typeface="Calibri" pitchFamily="34" charset="-122"/>
                <a:cs typeface="Calibri" pitchFamily="34" charset="-120"/>
              </a:rPr>
              <a:t>→</a:t>
            </a:r>
            <a:endParaRPr lang="en-US" sz="1800" dirty="0"/>
          </a:p>
        </p:txBody>
      </p:sp>
      <p:sp>
        <p:nvSpPr>
          <p:cNvPr id="10" name="Shape 7"/>
          <p:cNvSpPr/>
          <p:nvPr/>
        </p:nvSpPr>
        <p:spPr>
          <a:xfrm>
            <a:off x="3595878" y="1737360"/>
            <a:ext cx="2315718" cy="4114800"/>
          </a:xfrm>
          <a:prstGeom prst="roundRect">
            <a:avLst>
              <a:gd name="adj" fmla="val 3949"/>
            </a:avLst>
          </a:prstGeom>
          <a:solidFill>
            <a:srgbClr val="DA7756">
              <a:alpha val="15000"/>
            </a:srgbClr>
          </a:solidFill>
          <a:ln w="12700">
            <a:solidFill>
              <a:srgbClr val="DA7756">
                <a:alpha val="40000"/>
              </a:srgbClr>
            </a:solidFill>
            <a:prstDash val="solid"/>
          </a:ln>
        </p:spPr>
      </p:sp>
      <p:sp>
        <p:nvSpPr>
          <p:cNvPr id="11" name="Text 8"/>
          <p:cNvSpPr/>
          <p:nvPr/>
        </p:nvSpPr>
        <p:spPr>
          <a:xfrm>
            <a:off x="3733038" y="1920240"/>
            <a:ext cx="2041398" cy="3749040"/>
          </a:xfrm>
          <a:prstGeom prst="rect">
            <a:avLst/>
          </a:prstGeom>
          <a:noFill/>
          <a:ln/>
        </p:spPr>
        <p:txBody>
          <a:bodyPr wrap="square" rtlCol="0" anchor="ctr"/>
          <a:lstStyle/>
          <a:p>
            <a:pPr algn="ctr" indent="0" marL="0">
              <a:lnSpc>
                <a:spcPct val="130000"/>
              </a:lnSpc>
              <a:buNone/>
            </a:pPr>
            <a:r>
              <a:rPr lang="en-US" sz="1100" dirty="0">
                <a:solidFill>
                  <a:srgbClr val="222222"/>
                </a:solidFill>
                <a:latin typeface="Calibri" pitchFamily="34" charset="0"/>
                <a:ea typeface="Calibri" pitchFamily="34" charset="-122"/>
                <a:cs typeface="Calibri" pitchFamily="34" charset="-120"/>
              </a:rPr>
              <a:t>2</a:t>
            </a:r>
            <a:endParaRPr lang="en-US" sz="1100" dirty="0"/>
          </a:p>
          <a:p>
            <a:pPr algn="ctr" indent="0" marL="0">
              <a:lnSpc>
                <a:spcPct val="130000"/>
              </a:lnSpc>
              <a:buNone/>
            </a:pPr>
            <a:r>
              <a:rPr lang="en-US" sz="1100" dirty="0">
                <a:solidFill>
                  <a:srgbClr val="222222"/>
                </a:solidFill>
                <a:latin typeface="Calibri" pitchFamily="34" charset="0"/>
                <a:ea typeface="Calibri" pitchFamily="34" charset="-122"/>
                <a:cs typeface="Calibri" pitchFamily="34" charset="-120"/>
              </a:rPr>
              <a:t>Separate Content Types</a:t>
            </a:r>
            <a:endParaRPr lang="en-US" sz="1100" dirty="0"/>
          </a:p>
          <a:p>
            <a:pPr algn="ctr" indent="0" marL="0">
              <a:lnSpc>
                <a:spcPct val="130000"/>
              </a:lnSpc>
              <a:buNone/>
            </a:pPr>
            <a:r>
              <a:rPr lang="en-US" sz="1100" dirty="0">
                <a:solidFill>
                  <a:srgbClr val="222222"/>
                </a:solidFill>
                <a:latin typeface="Calibri" pitchFamily="34" charset="0"/>
                <a:ea typeface="Calibri" pitchFamily="34" charset="-122"/>
                <a:cs typeface="Calibri" pitchFamily="34" charset="-120"/>
              </a:rPr>
              <a:t>Analyze movies and TV shows independently</a:t>
            </a:r>
            <a:endParaRPr lang="en-US" sz="1100" dirty="0"/>
          </a:p>
        </p:txBody>
      </p:sp>
      <p:sp>
        <p:nvSpPr>
          <p:cNvPr id="12" name="Text 9"/>
          <p:cNvSpPr/>
          <p:nvPr/>
        </p:nvSpPr>
        <p:spPr>
          <a:xfrm>
            <a:off x="5911596" y="2862072"/>
            <a:ext cx="365760" cy="457200"/>
          </a:xfrm>
          <a:prstGeom prst="rect">
            <a:avLst/>
          </a:prstGeom>
          <a:noFill/>
          <a:ln/>
        </p:spPr>
        <p:txBody>
          <a:bodyPr wrap="square" rtlCol="0" anchor="ctr"/>
          <a:lstStyle/>
          <a:p>
            <a:pPr algn="ctr" indent="0" marL="0">
              <a:buNone/>
            </a:pPr>
            <a:r>
              <a:rPr lang="en-US" sz="1800" dirty="0">
                <a:solidFill>
                  <a:srgbClr val="DA7756"/>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6277356" y="1737360"/>
            <a:ext cx="2315718" cy="4114800"/>
          </a:xfrm>
          <a:prstGeom prst="roundRect">
            <a:avLst>
              <a:gd name="adj" fmla="val 3949"/>
            </a:avLst>
          </a:prstGeom>
          <a:solidFill>
            <a:srgbClr val="DA7756">
              <a:alpha val="15000"/>
            </a:srgbClr>
          </a:solidFill>
          <a:ln w="12700">
            <a:solidFill>
              <a:srgbClr val="DA7756">
                <a:alpha val="40000"/>
              </a:srgbClr>
            </a:solidFill>
            <a:prstDash val="solid"/>
          </a:ln>
        </p:spPr>
      </p:sp>
      <p:sp>
        <p:nvSpPr>
          <p:cNvPr id="14" name="Text 11"/>
          <p:cNvSpPr/>
          <p:nvPr/>
        </p:nvSpPr>
        <p:spPr>
          <a:xfrm>
            <a:off x="6414516" y="1920240"/>
            <a:ext cx="2041398" cy="3749040"/>
          </a:xfrm>
          <a:prstGeom prst="rect">
            <a:avLst/>
          </a:prstGeom>
          <a:noFill/>
          <a:ln/>
        </p:spPr>
        <p:txBody>
          <a:bodyPr wrap="square" rtlCol="0" anchor="ctr"/>
          <a:lstStyle/>
          <a:p>
            <a:pPr algn="ctr" indent="0" marL="0">
              <a:lnSpc>
                <a:spcPct val="130000"/>
              </a:lnSpc>
              <a:buNone/>
            </a:pPr>
            <a:r>
              <a:rPr lang="en-US" sz="1100" dirty="0">
                <a:solidFill>
                  <a:srgbClr val="222222"/>
                </a:solidFill>
                <a:latin typeface="Calibri" pitchFamily="34" charset="0"/>
                <a:ea typeface="Calibri" pitchFamily="34" charset="-122"/>
                <a:cs typeface="Calibri" pitchFamily="34" charset="-120"/>
              </a:rPr>
              <a:t>3</a:t>
            </a:r>
            <a:endParaRPr lang="en-US" sz="1100" dirty="0"/>
          </a:p>
          <a:p>
            <a:pPr algn="ctr" indent="0" marL="0">
              <a:lnSpc>
                <a:spcPct val="130000"/>
              </a:lnSpc>
              <a:buNone/>
            </a:pPr>
            <a:r>
              <a:rPr lang="en-US" sz="1100" dirty="0">
                <a:solidFill>
                  <a:srgbClr val="222222"/>
                </a:solidFill>
                <a:latin typeface="Calibri" pitchFamily="34" charset="0"/>
                <a:ea typeface="Calibri" pitchFamily="34" charset="-122"/>
                <a:cs typeface="Calibri" pitchFamily="34" charset="-120"/>
              </a:rPr>
              <a:t>Visualize Relationship</a:t>
            </a:r>
            <a:endParaRPr lang="en-US" sz="1100" dirty="0"/>
          </a:p>
          <a:p>
            <a:pPr algn="ctr" indent="0" marL="0">
              <a:lnSpc>
                <a:spcPct val="130000"/>
              </a:lnSpc>
              <a:buNone/>
            </a:pPr>
            <a:r>
              <a:rPr lang="en-US" sz="1100" dirty="0">
                <a:solidFill>
                  <a:srgbClr val="222222"/>
                </a:solidFill>
                <a:latin typeface="Calibri" pitchFamily="34" charset="0"/>
                <a:ea typeface="Calibri" pitchFamily="34" charset="-122"/>
                <a:cs typeface="Calibri" pitchFamily="34" charset="-120"/>
              </a:rPr>
              <a:t>Plot duration against release year</a:t>
            </a:r>
            <a:endParaRPr lang="en-US" sz="1100" dirty="0"/>
          </a:p>
        </p:txBody>
      </p:sp>
      <p:sp>
        <p:nvSpPr>
          <p:cNvPr id="15" name="Text 12"/>
          <p:cNvSpPr/>
          <p:nvPr/>
        </p:nvSpPr>
        <p:spPr>
          <a:xfrm>
            <a:off x="8593074" y="2862072"/>
            <a:ext cx="365760" cy="457200"/>
          </a:xfrm>
          <a:prstGeom prst="rect">
            <a:avLst/>
          </a:prstGeom>
          <a:noFill/>
          <a:ln/>
        </p:spPr>
        <p:txBody>
          <a:bodyPr wrap="square" rtlCol="0" anchor="ctr"/>
          <a:lstStyle/>
          <a:p>
            <a:pPr algn="ctr" indent="0" marL="0">
              <a:buNone/>
            </a:pPr>
            <a:r>
              <a:rPr lang="en-US" sz="1800" dirty="0">
                <a:solidFill>
                  <a:srgbClr val="DA7756"/>
                </a:solidFill>
                <a:latin typeface="Calibri" pitchFamily="34" charset="0"/>
                <a:ea typeface="Calibri" pitchFamily="34" charset="-122"/>
                <a:cs typeface="Calibri" pitchFamily="34" charset="-120"/>
              </a:rPr>
              <a:t>→</a:t>
            </a:r>
            <a:endParaRPr lang="en-US" sz="1800" dirty="0"/>
          </a:p>
        </p:txBody>
      </p:sp>
      <p:sp>
        <p:nvSpPr>
          <p:cNvPr id="16" name="Shape 13"/>
          <p:cNvSpPr/>
          <p:nvPr/>
        </p:nvSpPr>
        <p:spPr>
          <a:xfrm>
            <a:off x="8958834" y="1737360"/>
            <a:ext cx="2315718" cy="4114800"/>
          </a:xfrm>
          <a:prstGeom prst="roundRect">
            <a:avLst>
              <a:gd name="adj" fmla="val 3949"/>
            </a:avLst>
          </a:prstGeom>
          <a:solidFill>
            <a:srgbClr val="DA7756">
              <a:alpha val="15000"/>
            </a:srgbClr>
          </a:solidFill>
          <a:ln w="12700">
            <a:solidFill>
              <a:srgbClr val="DA7756">
                <a:alpha val="40000"/>
              </a:srgbClr>
            </a:solidFill>
            <a:prstDash val="solid"/>
          </a:ln>
        </p:spPr>
      </p:sp>
      <p:sp>
        <p:nvSpPr>
          <p:cNvPr id="17" name="Text 14"/>
          <p:cNvSpPr/>
          <p:nvPr/>
        </p:nvSpPr>
        <p:spPr>
          <a:xfrm>
            <a:off x="9095994" y="1920240"/>
            <a:ext cx="2041398" cy="3749040"/>
          </a:xfrm>
          <a:prstGeom prst="rect">
            <a:avLst/>
          </a:prstGeom>
          <a:noFill/>
          <a:ln/>
        </p:spPr>
        <p:txBody>
          <a:bodyPr wrap="square" rtlCol="0" anchor="ctr"/>
          <a:lstStyle/>
          <a:p>
            <a:pPr algn="ctr" indent="0" marL="0">
              <a:lnSpc>
                <a:spcPct val="130000"/>
              </a:lnSpc>
              <a:buNone/>
            </a:pPr>
            <a:r>
              <a:rPr lang="en-US" sz="1100" dirty="0">
                <a:solidFill>
                  <a:srgbClr val="222222"/>
                </a:solidFill>
                <a:latin typeface="Calibri" pitchFamily="34" charset="0"/>
                <a:ea typeface="Calibri" pitchFamily="34" charset="-122"/>
                <a:cs typeface="Calibri" pitchFamily="34" charset="-120"/>
              </a:rPr>
              <a:t>4</a:t>
            </a:r>
            <a:endParaRPr lang="en-US" sz="1100" dirty="0"/>
          </a:p>
          <a:p>
            <a:pPr algn="ctr" indent="0" marL="0">
              <a:lnSpc>
                <a:spcPct val="130000"/>
              </a:lnSpc>
              <a:buNone/>
            </a:pPr>
            <a:r>
              <a:rPr lang="en-US" sz="1100" dirty="0">
                <a:solidFill>
                  <a:srgbClr val="222222"/>
                </a:solidFill>
                <a:latin typeface="Calibri" pitchFamily="34" charset="0"/>
                <a:ea typeface="Calibri" pitchFamily="34" charset="-122"/>
                <a:cs typeface="Calibri" pitchFamily="34" charset="-120"/>
              </a:rPr>
              <a:t>Interpret Results</a:t>
            </a:r>
            <a:endParaRPr lang="en-US" sz="1100" dirty="0"/>
          </a:p>
          <a:p>
            <a:pPr algn="ctr" indent="0" marL="0">
              <a:lnSpc>
                <a:spcPct val="130000"/>
              </a:lnSpc>
              <a:buNone/>
            </a:pPr>
            <a:r>
              <a:rPr lang="en-US" sz="1100" dirty="0">
                <a:solidFill>
                  <a:srgbClr val="222222"/>
                </a:solidFill>
                <a:latin typeface="Calibri" pitchFamily="34" charset="0"/>
                <a:ea typeface="Calibri" pitchFamily="34" charset="-122"/>
                <a:cs typeface="Calibri" pitchFamily="34" charset="-120"/>
              </a:rPr>
              <a:t>Assess pattern strength and practical meaning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DA7756"/>
          </a:solidFill>
          <a:ln/>
        </p:spPr>
      </p:sp>
      <p:sp>
        <p:nvSpPr>
          <p:cNvPr id="3" name="Text 1"/>
          <p:cNvSpPr/>
          <p:nvPr/>
        </p:nvSpPr>
        <p:spPr>
          <a:xfrm>
            <a:off x="10817352" y="6400800"/>
            <a:ext cx="1097280" cy="320040"/>
          </a:xfrm>
          <a:prstGeom prst="rect">
            <a:avLst/>
          </a:prstGeom>
          <a:noFill/>
          <a:ln/>
        </p:spPr>
        <p:txBody>
          <a:bodyPr wrap="square" rtlCol="0" anchor="ctr"/>
          <a:lstStyle/>
          <a:p>
            <a:pPr algn="r" indent="0" marL="0">
              <a:buNone/>
            </a:pPr>
            <a:r>
              <a:rPr lang="en-US" sz="1000" dirty="0">
                <a:solidFill>
                  <a:srgbClr val="888888"/>
                </a:solidFill>
                <a:latin typeface="Calibri" pitchFamily="34" charset="0"/>
                <a:ea typeface="Calibri" pitchFamily="34" charset="-122"/>
                <a:cs typeface="Calibri" pitchFamily="34" charset="-120"/>
              </a:rPr>
              <a:t>5 / 10</a:t>
            </a:r>
            <a:endParaRPr lang="en-US" sz="1000" dirty="0"/>
          </a:p>
        </p:txBody>
      </p:sp>
      <p:sp>
        <p:nvSpPr>
          <p:cNvPr id="4" name="Shape 2"/>
          <p:cNvSpPr/>
          <p:nvPr/>
        </p:nvSpPr>
        <p:spPr>
          <a:xfrm>
            <a:off x="0" y="6803136"/>
            <a:ext cx="1828800" cy="54864"/>
          </a:xfrm>
          <a:prstGeom prst="rect">
            <a:avLst/>
          </a:prstGeom>
          <a:solidFill>
            <a:srgbClr val="DA7756"/>
          </a:solidFill>
          <a:ln/>
        </p:spPr>
      </p:sp>
      <p:sp>
        <p:nvSpPr>
          <p:cNvPr id="6" name="Text 3"/>
          <p:cNvSpPr/>
          <p:nvPr/>
        </p:nvSpPr>
        <p:spPr>
          <a:xfrm>
            <a:off x="914400" y="457200"/>
            <a:ext cx="10360152" cy="64008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Movie Duration vs. Release Year</a:t>
            </a:r>
            <a:endParaRPr lang="en-US" sz="2400" dirty="0"/>
          </a:p>
        </p:txBody>
      </p:sp>
      <p:pic>
        <p:nvPicPr>
          <p:cNvPr id="7" name="Image 0" descr="preencoded.png">    </p:cNvPr>
          <p:cNvPicPr>
            <a:picLocks noChangeAspect="1"/>
          </p:cNvPicPr>
          <p:nvPr/>
        </p:nvPicPr>
        <p:blipFill>
          <a:blip r:embed="rId1"/>
          <a:stretch>
            <a:fillRect/>
          </a:stretch>
        </p:blipFill>
        <p:spPr>
          <a:xfrm>
            <a:off x="3398249" y="1280160"/>
            <a:ext cx="5392455" cy="3200400"/>
          </a:xfrm>
          <a:prstGeom prst="rect">
            <a:avLst/>
          </a:prstGeom>
        </p:spPr>
      </p:pic>
      <p:sp>
        <p:nvSpPr>
          <p:cNvPr id="8" name="Text 4"/>
          <p:cNvSpPr/>
          <p:nvPr/>
        </p:nvSpPr>
        <p:spPr>
          <a:xfrm>
            <a:off x="914400" y="4617720"/>
            <a:ext cx="10360152" cy="1783080"/>
          </a:xfrm>
          <a:prstGeom prst="rect">
            <a:avLst/>
          </a:prstGeom>
          <a:noFill/>
          <a:ln/>
        </p:spPr>
        <p:txBody>
          <a:bodyPr wrap="square" rtlCol="0" anchor="t"/>
          <a:lstStyle/>
          <a:p>
            <a:pPr marL="342900" indent="-342900">
              <a:lnSpc>
                <a:spcPct val="115000"/>
              </a:lnSpc>
              <a:spcAft>
                <a:spcPts val="400"/>
              </a:spcAft>
              <a:buSzPct val="100000"/>
              <a:buChar char="•"/>
            </a:pPr>
            <a:r>
              <a:rPr lang="en-US" sz="1300" b="1" dirty="0">
                <a:solidFill>
                  <a:srgbClr val="444444"/>
                </a:solidFill>
                <a:latin typeface="Calibri" pitchFamily="34" charset="0"/>
                <a:ea typeface="Calibri" pitchFamily="34" charset="-122"/>
                <a:cs typeface="Calibri" pitchFamily="34" charset="-120"/>
              </a:rPr>
              <a:t>Weak negative relationship</a:t>
            </a:r>
            <a:pPr indent="0" marL="0">
              <a:buNone/>
            </a:pPr>
            <a:r>
              <a:rPr lang="en-US" sz="1300" dirty="0">
                <a:solidFill>
                  <a:srgbClr val="444444"/>
                </a:solidFill>
                <a:latin typeface="Calibri" pitchFamily="34" charset="0"/>
                <a:ea typeface="Calibri" pitchFamily="34" charset="-122"/>
                <a:cs typeface="Calibri" pitchFamily="34" charset="-120"/>
              </a:rPr>
              <a:t> appears across movie releases</a:t>
            </a:r>
            <a:endParaRPr lang="en-US" sz="1300" dirty="0"/>
          </a:p>
          <a:p>
            <a:pPr marL="342900" indent="-342900">
              <a:lnSpc>
                <a:spcPct val="115000"/>
              </a:lnSpc>
              <a:spcAft>
                <a:spcPts val="400"/>
              </a:spcAft>
              <a:buSzPct val="100000"/>
              <a:buChar char="•"/>
            </a:pPr>
            <a:r>
              <a:rPr lang="en-US" sz="1300" b="1" dirty="0">
                <a:solidFill>
                  <a:srgbClr val="444444"/>
                </a:solidFill>
                <a:latin typeface="Calibri" pitchFamily="34" charset="0"/>
                <a:ea typeface="Calibri" pitchFamily="34" charset="-122"/>
                <a:cs typeface="Calibri" pitchFamily="34" charset="-120"/>
              </a:rPr>
              <a:t>Newer movies</a:t>
            </a:r>
            <a:pPr indent="0" marL="0">
              <a:buNone/>
            </a:pPr>
            <a:r>
              <a:rPr lang="en-US" sz="1300" dirty="0">
                <a:solidFill>
                  <a:srgbClr val="444444"/>
                </a:solidFill>
                <a:latin typeface="Calibri" pitchFamily="34" charset="0"/>
                <a:ea typeface="Calibri" pitchFamily="34" charset="-122"/>
                <a:cs typeface="Calibri" pitchFamily="34" charset="-120"/>
              </a:rPr>
              <a:t> are slightly shorter on average</a:t>
            </a:r>
            <a:endParaRPr lang="en-US" sz="1300" dirty="0"/>
          </a:p>
        </p:txBody>
      </p:sp>
      <p:sp>
        <p:nvSpPr>
          <p:cNvPr id="9" name="Text 5"/>
          <p:cNvSpPr/>
          <p:nvPr/>
        </p:nvSpPr>
        <p:spPr>
          <a:xfrm>
            <a:off x="914400" y="6217920"/>
            <a:ext cx="10360152" cy="365760"/>
          </a:xfrm>
          <a:prstGeom prst="rect">
            <a:avLst/>
          </a:prstGeom>
          <a:noFill/>
          <a:ln/>
        </p:spPr>
        <p:txBody>
          <a:bodyPr wrap="square" rtlCol="0" anchor="ctr"/>
          <a:lstStyle/>
          <a:p>
            <a:pPr algn="r" indent="0" marL="0">
              <a:buNone/>
            </a:pPr>
            <a:r>
              <a:rPr lang="en-US" sz="1100" i="1" dirty="0">
                <a:solidFill>
                  <a:srgbClr val="888888"/>
                </a:solidFill>
                <a:latin typeface="Calibri" pitchFamily="34" charset="0"/>
                <a:ea typeface="Calibri" pitchFamily="34" charset="-122"/>
                <a:cs typeface="Calibri" pitchFamily="34" charset="-120"/>
              </a:rPr>
              <a:t>Source: Netflix titles dataset analysis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DA7756"/>
          </a:solidFill>
          <a:ln/>
        </p:spPr>
      </p:sp>
      <p:sp>
        <p:nvSpPr>
          <p:cNvPr id="3" name="Text 1"/>
          <p:cNvSpPr/>
          <p:nvPr/>
        </p:nvSpPr>
        <p:spPr>
          <a:xfrm>
            <a:off x="10817352" y="6400800"/>
            <a:ext cx="1097280" cy="320040"/>
          </a:xfrm>
          <a:prstGeom prst="rect">
            <a:avLst/>
          </a:prstGeom>
          <a:noFill/>
          <a:ln/>
        </p:spPr>
        <p:txBody>
          <a:bodyPr wrap="square" rtlCol="0" anchor="ctr"/>
          <a:lstStyle/>
          <a:p>
            <a:pPr algn="r" indent="0" marL="0">
              <a:buNone/>
            </a:pPr>
            <a:r>
              <a:rPr lang="en-US" sz="1000" dirty="0">
                <a:solidFill>
                  <a:srgbClr val="888888"/>
                </a:solidFill>
                <a:latin typeface="Calibri" pitchFamily="34" charset="0"/>
                <a:ea typeface="Calibri" pitchFamily="34" charset="-122"/>
                <a:cs typeface="Calibri" pitchFamily="34" charset="-120"/>
              </a:rPr>
              <a:t>6 / 10</a:t>
            </a:r>
            <a:endParaRPr lang="en-US" sz="1000" dirty="0"/>
          </a:p>
        </p:txBody>
      </p:sp>
      <p:sp>
        <p:nvSpPr>
          <p:cNvPr id="4" name="Shape 2"/>
          <p:cNvSpPr/>
          <p:nvPr/>
        </p:nvSpPr>
        <p:spPr>
          <a:xfrm>
            <a:off x="0" y="6803136"/>
            <a:ext cx="1828800" cy="54864"/>
          </a:xfrm>
          <a:prstGeom prst="rect">
            <a:avLst/>
          </a:prstGeom>
          <a:solidFill>
            <a:srgbClr val="DA7756"/>
          </a:solidFill>
          <a:ln/>
        </p:spPr>
      </p:sp>
      <p:sp>
        <p:nvSpPr>
          <p:cNvPr id="6" name="Text 3"/>
          <p:cNvSpPr/>
          <p:nvPr/>
        </p:nvSpPr>
        <p:spPr>
          <a:xfrm>
            <a:off x="914400" y="457200"/>
            <a:ext cx="10360152" cy="64008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TV Show Seasons vs. Release Year</a:t>
            </a:r>
            <a:endParaRPr lang="en-US" sz="2400" dirty="0"/>
          </a:p>
        </p:txBody>
      </p:sp>
      <p:pic>
        <p:nvPicPr>
          <p:cNvPr id="7" name="Image 0" descr="preencoded.png">    </p:cNvPr>
          <p:cNvPicPr>
            <a:picLocks noChangeAspect="1"/>
          </p:cNvPicPr>
          <p:nvPr/>
        </p:nvPicPr>
        <p:blipFill>
          <a:blip r:embed="rId1"/>
          <a:stretch>
            <a:fillRect/>
          </a:stretch>
        </p:blipFill>
        <p:spPr>
          <a:xfrm>
            <a:off x="3398249" y="1280160"/>
            <a:ext cx="5392455" cy="3200400"/>
          </a:xfrm>
          <a:prstGeom prst="rect">
            <a:avLst/>
          </a:prstGeom>
        </p:spPr>
      </p:pic>
      <p:sp>
        <p:nvSpPr>
          <p:cNvPr id="8" name="Text 4"/>
          <p:cNvSpPr/>
          <p:nvPr/>
        </p:nvSpPr>
        <p:spPr>
          <a:xfrm>
            <a:off x="914400" y="4617720"/>
            <a:ext cx="10360152" cy="1783080"/>
          </a:xfrm>
          <a:prstGeom prst="rect">
            <a:avLst/>
          </a:prstGeom>
          <a:noFill/>
          <a:ln/>
        </p:spPr>
        <p:txBody>
          <a:bodyPr wrap="square" rtlCol="0" anchor="t"/>
          <a:lstStyle/>
          <a:p>
            <a:pPr marL="342900" indent="-342900">
              <a:lnSpc>
                <a:spcPct val="115000"/>
              </a:lnSpc>
              <a:spcAft>
                <a:spcPts val="400"/>
              </a:spcAft>
              <a:buSzPct val="100000"/>
              <a:buChar char="•"/>
            </a:pPr>
            <a:r>
              <a:rPr lang="en-US" sz="1300" b="1" dirty="0">
                <a:solidFill>
                  <a:srgbClr val="444444"/>
                </a:solidFill>
                <a:latin typeface="Calibri" pitchFamily="34" charset="0"/>
                <a:ea typeface="Calibri" pitchFamily="34" charset="-122"/>
                <a:cs typeface="Calibri" pitchFamily="34" charset="-120"/>
              </a:rPr>
              <a:t>Very small relationship</a:t>
            </a:r>
            <a:pPr indent="0" marL="0">
              <a:buNone/>
            </a:pPr>
            <a:r>
              <a:rPr lang="en-US" sz="1300" dirty="0">
                <a:solidFill>
                  <a:srgbClr val="444444"/>
                </a:solidFill>
                <a:latin typeface="Calibri" pitchFamily="34" charset="0"/>
                <a:ea typeface="Calibri" pitchFamily="34" charset="-122"/>
                <a:cs typeface="Calibri" pitchFamily="34" charset="-120"/>
              </a:rPr>
              <a:t> appears between release year and seasons</a:t>
            </a:r>
            <a:endParaRPr lang="en-US" sz="1300" dirty="0"/>
          </a:p>
          <a:p>
            <a:pPr marL="342900" indent="-342900">
              <a:lnSpc>
                <a:spcPct val="115000"/>
              </a:lnSpc>
              <a:spcAft>
                <a:spcPts val="400"/>
              </a:spcAft>
              <a:buSzPct val="100000"/>
              <a:buChar char="•"/>
            </a:pPr>
            <a:r>
              <a:rPr lang="en-US" sz="1300" b="1" dirty="0">
                <a:solidFill>
                  <a:srgbClr val="444444"/>
                </a:solidFill>
                <a:latin typeface="Calibri" pitchFamily="34" charset="0"/>
                <a:ea typeface="Calibri" pitchFamily="34" charset="-122"/>
                <a:cs typeface="Calibri" pitchFamily="34" charset="-120"/>
              </a:rPr>
              <a:t>Pattern is weak</a:t>
            </a:r>
            <a:pPr indent="0" marL="0">
              <a:buNone/>
            </a:pPr>
            <a:r>
              <a:rPr lang="en-US" sz="1300" dirty="0">
                <a:solidFill>
                  <a:srgbClr val="444444"/>
                </a:solidFill>
                <a:latin typeface="Calibri" pitchFamily="34" charset="0"/>
                <a:ea typeface="Calibri" pitchFamily="34" charset="-122"/>
                <a:cs typeface="Calibri" pitchFamily="34" charset="-120"/>
              </a:rPr>
              <a:t> in practical terms</a:t>
            </a:r>
            <a:endParaRPr lang="en-US" sz="1300" dirty="0"/>
          </a:p>
        </p:txBody>
      </p:sp>
      <p:sp>
        <p:nvSpPr>
          <p:cNvPr id="9" name="Text 5"/>
          <p:cNvSpPr/>
          <p:nvPr/>
        </p:nvSpPr>
        <p:spPr>
          <a:xfrm>
            <a:off x="914400" y="6217920"/>
            <a:ext cx="10360152" cy="365760"/>
          </a:xfrm>
          <a:prstGeom prst="rect">
            <a:avLst/>
          </a:prstGeom>
          <a:noFill/>
          <a:ln/>
        </p:spPr>
        <p:txBody>
          <a:bodyPr wrap="square" rtlCol="0" anchor="ctr"/>
          <a:lstStyle/>
          <a:p>
            <a:pPr algn="r" indent="0" marL="0">
              <a:buNone/>
            </a:pPr>
            <a:r>
              <a:rPr lang="en-US" sz="1100" i="1" dirty="0">
                <a:solidFill>
                  <a:srgbClr val="888888"/>
                </a:solidFill>
                <a:latin typeface="Calibri" pitchFamily="34" charset="0"/>
                <a:ea typeface="Calibri" pitchFamily="34" charset="-122"/>
                <a:cs typeface="Calibri" pitchFamily="34" charset="-120"/>
              </a:rPr>
              <a:t>Source: Netflix titles dataset analysis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DA7756"/>
          </a:solidFill>
          <a:ln/>
        </p:spPr>
      </p:sp>
      <p:sp>
        <p:nvSpPr>
          <p:cNvPr id="3" name="Text 1"/>
          <p:cNvSpPr/>
          <p:nvPr/>
        </p:nvSpPr>
        <p:spPr>
          <a:xfrm>
            <a:off x="10817352" y="6400800"/>
            <a:ext cx="1097280" cy="320040"/>
          </a:xfrm>
          <a:prstGeom prst="rect">
            <a:avLst/>
          </a:prstGeom>
          <a:noFill/>
          <a:ln/>
        </p:spPr>
        <p:txBody>
          <a:bodyPr wrap="square" rtlCol="0" anchor="ctr"/>
          <a:lstStyle/>
          <a:p>
            <a:pPr algn="r" indent="0" marL="0">
              <a:buNone/>
            </a:pPr>
            <a:r>
              <a:rPr lang="en-US" sz="1000" dirty="0">
                <a:solidFill>
                  <a:srgbClr val="888888"/>
                </a:solidFill>
                <a:latin typeface="Calibri" pitchFamily="34" charset="0"/>
                <a:ea typeface="Calibri" pitchFamily="34" charset="-122"/>
                <a:cs typeface="Calibri" pitchFamily="34" charset="-120"/>
              </a:rPr>
              <a:t>7 / 10</a:t>
            </a:r>
            <a:endParaRPr lang="en-US" sz="1000" dirty="0"/>
          </a:p>
        </p:txBody>
      </p:sp>
      <p:sp>
        <p:nvSpPr>
          <p:cNvPr id="4" name="Shape 2"/>
          <p:cNvSpPr/>
          <p:nvPr/>
        </p:nvSpPr>
        <p:spPr>
          <a:xfrm>
            <a:off x="0" y="6803136"/>
            <a:ext cx="1828800" cy="54864"/>
          </a:xfrm>
          <a:prstGeom prst="rect">
            <a:avLst/>
          </a:prstGeom>
          <a:solidFill>
            <a:srgbClr val="DA7756"/>
          </a:solidFill>
          <a:ln/>
        </p:spPr>
      </p:sp>
      <p:sp>
        <p:nvSpPr>
          <p:cNvPr id="6" name="Text 3"/>
          <p:cNvSpPr/>
          <p:nvPr/>
        </p:nvSpPr>
        <p:spPr>
          <a:xfrm>
            <a:off x="914400" y="457200"/>
            <a:ext cx="10360152" cy="731520"/>
          </a:xfrm>
          <a:prstGeom prst="rect">
            <a:avLst/>
          </a:prstGeom>
          <a:noFill/>
          <a:ln/>
        </p:spPr>
        <p:txBody>
          <a:bodyPr wrap="square"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Movies vs. TV Shows</a:t>
            </a:r>
            <a:endParaRPr lang="en-US" sz="2800" dirty="0"/>
          </a:p>
        </p:txBody>
      </p:sp>
      <p:sp>
        <p:nvSpPr>
          <p:cNvPr id="7" name="Text 4"/>
          <p:cNvSpPr/>
          <p:nvPr/>
        </p:nvSpPr>
        <p:spPr>
          <a:xfrm>
            <a:off x="914400" y="1371600"/>
            <a:ext cx="4722876" cy="548640"/>
          </a:xfrm>
          <a:prstGeom prst="rect">
            <a:avLst/>
          </a:prstGeom>
          <a:noFill/>
          <a:ln/>
        </p:spPr>
        <p:txBody>
          <a:bodyPr wrap="square" rtlCol="0" anchor="ctr"/>
          <a:lstStyle/>
          <a:p>
            <a:pPr indent="0" marL="0">
              <a:buNone/>
            </a:pPr>
            <a:r>
              <a:rPr lang="en-US" sz="2000" b="1" dirty="0">
                <a:solidFill>
                  <a:srgbClr val="DA7756"/>
                </a:solidFill>
                <a:latin typeface="Calibri" pitchFamily="34" charset="0"/>
                <a:ea typeface="Calibri" pitchFamily="34" charset="-122"/>
                <a:cs typeface="Calibri" pitchFamily="34" charset="-120"/>
              </a:rPr>
              <a:t>Movies</a:t>
            </a:r>
            <a:endParaRPr lang="en-US" sz="2000" dirty="0"/>
          </a:p>
        </p:txBody>
      </p:sp>
      <p:sp>
        <p:nvSpPr>
          <p:cNvPr id="8" name="Text 5"/>
          <p:cNvSpPr/>
          <p:nvPr/>
        </p:nvSpPr>
        <p:spPr>
          <a:xfrm>
            <a:off x="914400" y="2011680"/>
            <a:ext cx="4722876" cy="3931920"/>
          </a:xfrm>
          <a:prstGeom prst="rect">
            <a:avLst/>
          </a:prstGeom>
          <a:noFill/>
          <a:ln/>
        </p:spPr>
        <p:txBody>
          <a:bodyPr wrap="square" rtlCol="0" anchor="t"/>
          <a:lstStyle/>
          <a:p>
            <a:pPr marL="342900" indent="-342900">
              <a:lnSpc>
                <a:spcPct val="120000"/>
              </a:lnSpc>
              <a:spcAft>
                <a:spcPts val="800"/>
              </a:spcAft>
              <a:buSzPct val="100000"/>
              <a:buChar char="•"/>
            </a:pPr>
            <a:r>
              <a:rPr lang="en-US" sz="1400" b="1" dirty="0">
                <a:solidFill>
                  <a:srgbClr val="444444"/>
                </a:solidFill>
                <a:latin typeface="Calibri" pitchFamily="34" charset="0"/>
                <a:ea typeface="Calibri" pitchFamily="34" charset="-122"/>
                <a:cs typeface="Calibri" pitchFamily="34" charset="-120"/>
              </a:rPr>
              <a:t>Duration</a:t>
            </a:r>
            <a:pPr indent="0" marL="0">
              <a:buNone/>
            </a:pPr>
            <a:r>
              <a:rPr lang="en-US" sz="1400" dirty="0">
                <a:solidFill>
                  <a:srgbClr val="444444"/>
                </a:solidFill>
                <a:latin typeface="Calibri" pitchFamily="34" charset="0"/>
                <a:ea typeface="Calibri" pitchFamily="34" charset="-122"/>
                <a:cs typeface="Calibri" pitchFamily="34" charset="-120"/>
              </a:rPr>
              <a:t> measured in minutes</a:t>
            </a:r>
            <a:endParaRPr lang="en-US" sz="1400" dirty="0"/>
          </a:p>
          <a:p>
            <a:pPr marL="342900" indent="-342900">
              <a:lnSpc>
                <a:spcPct val="120000"/>
              </a:lnSpc>
              <a:spcAft>
                <a:spcPts val="800"/>
              </a:spcAft>
              <a:buSzPct val="100000"/>
              <a:buChar char="•"/>
            </a:pPr>
            <a:r>
              <a:rPr lang="en-US" sz="1400" b="1" dirty="0">
                <a:solidFill>
                  <a:srgbClr val="444444"/>
                </a:solidFill>
                <a:latin typeface="Calibri" pitchFamily="34" charset="0"/>
                <a:ea typeface="Calibri" pitchFamily="34" charset="-122"/>
                <a:cs typeface="Calibri" pitchFamily="34" charset="-120"/>
              </a:rPr>
              <a:t>Weak negative trend</a:t>
            </a:r>
            <a:pPr indent="0" marL="0">
              <a:buNone/>
            </a:pPr>
            <a:r>
              <a:rPr lang="en-US" sz="1400" dirty="0">
                <a:solidFill>
                  <a:srgbClr val="444444"/>
                </a:solidFill>
                <a:latin typeface="Calibri" pitchFamily="34" charset="0"/>
                <a:ea typeface="Calibri" pitchFamily="34" charset="-122"/>
                <a:cs typeface="Calibri" pitchFamily="34" charset="-120"/>
              </a:rPr>
              <a:t> over release years</a:t>
            </a:r>
            <a:endParaRPr lang="en-US" sz="1400" dirty="0"/>
          </a:p>
          <a:p>
            <a:pPr marL="342900" indent="-342900">
              <a:lnSpc>
                <a:spcPct val="120000"/>
              </a:lnSpc>
              <a:spcAft>
                <a:spcPts val="800"/>
              </a:spcAft>
              <a:buSzPct val="100000"/>
              <a:buChar char="•"/>
            </a:pPr>
            <a:r>
              <a:rPr lang="en-US" sz="1400" b="1" dirty="0">
                <a:solidFill>
                  <a:srgbClr val="444444"/>
                </a:solidFill>
                <a:latin typeface="Calibri" pitchFamily="34" charset="0"/>
                <a:ea typeface="Calibri" pitchFamily="34" charset="-122"/>
                <a:cs typeface="Calibri" pitchFamily="34" charset="-120"/>
              </a:rPr>
              <a:t>Newer films</a:t>
            </a:r>
            <a:pPr indent="0" marL="0">
              <a:buNone/>
            </a:pPr>
            <a:r>
              <a:rPr lang="en-US" sz="1400" dirty="0">
                <a:solidFill>
                  <a:srgbClr val="444444"/>
                </a:solidFill>
                <a:latin typeface="Calibri" pitchFamily="34" charset="0"/>
                <a:ea typeface="Calibri" pitchFamily="34" charset="-122"/>
                <a:cs typeface="Calibri" pitchFamily="34" charset="-120"/>
              </a:rPr>
              <a:t> are slightly shorter</a:t>
            </a:r>
            <a:endParaRPr lang="en-US" sz="1400" dirty="0"/>
          </a:p>
        </p:txBody>
      </p:sp>
      <p:sp>
        <p:nvSpPr>
          <p:cNvPr id="9" name="Shape 6"/>
          <p:cNvSpPr/>
          <p:nvPr/>
        </p:nvSpPr>
        <p:spPr>
          <a:xfrm>
            <a:off x="5865876" y="1371600"/>
            <a:ext cx="18288" cy="4572000"/>
          </a:xfrm>
          <a:prstGeom prst="rect">
            <a:avLst/>
          </a:prstGeom>
          <a:solidFill>
            <a:srgbClr val="DA7756">
              <a:alpha val="40000"/>
            </a:srgbClr>
          </a:solidFill>
          <a:ln/>
        </p:spPr>
      </p:sp>
      <p:sp>
        <p:nvSpPr>
          <p:cNvPr id="10" name="Text 7"/>
          <p:cNvSpPr/>
          <p:nvPr/>
        </p:nvSpPr>
        <p:spPr>
          <a:xfrm>
            <a:off x="6323076" y="1371600"/>
            <a:ext cx="4722876" cy="548640"/>
          </a:xfrm>
          <a:prstGeom prst="rect">
            <a:avLst/>
          </a:prstGeom>
          <a:noFill/>
          <a:ln/>
        </p:spPr>
        <p:txBody>
          <a:bodyPr wrap="square" rtlCol="0" anchor="ctr"/>
          <a:lstStyle/>
          <a:p>
            <a:pPr indent="0" marL="0">
              <a:buNone/>
            </a:pPr>
            <a:r>
              <a:rPr lang="en-US" sz="2000" b="1" dirty="0">
                <a:solidFill>
                  <a:srgbClr val="DA7756"/>
                </a:solidFill>
                <a:latin typeface="Calibri" pitchFamily="34" charset="0"/>
                <a:ea typeface="Calibri" pitchFamily="34" charset="-122"/>
                <a:cs typeface="Calibri" pitchFamily="34" charset="-120"/>
              </a:rPr>
              <a:t>TV Shows</a:t>
            </a:r>
            <a:endParaRPr lang="en-US" sz="2000" dirty="0"/>
          </a:p>
        </p:txBody>
      </p:sp>
      <p:sp>
        <p:nvSpPr>
          <p:cNvPr id="11" name="Text 8"/>
          <p:cNvSpPr/>
          <p:nvPr/>
        </p:nvSpPr>
        <p:spPr>
          <a:xfrm>
            <a:off x="6323076" y="2011680"/>
            <a:ext cx="4722876" cy="3931920"/>
          </a:xfrm>
          <a:prstGeom prst="rect">
            <a:avLst/>
          </a:prstGeom>
          <a:noFill/>
          <a:ln/>
        </p:spPr>
        <p:txBody>
          <a:bodyPr wrap="square" rtlCol="0" anchor="t"/>
          <a:lstStyle/>
          <a:p>
            <a:pPr marL="342900" indent="-342900">
              <a:lnSpc>
                <a:spcPct val="120000"/>
              </a:lnSpc>
              <a:spcAft>
                <a:spcPts val="800"/>
              </a:spcAft>
              <a:buSzPct val="100000"/>
              <a:buChar char="•"/>
            </a:pPr>
            <a:r>
              <a:rPr lang="en-US" sz="1400" b="1" dirty="0">
                <a:solidFill>
                  <a:srgbClr val="444444"/>
                </a:solidFill>
                <a:latin typeface="Calibri" pitchFamily="34" charset="0"/>
                <a:ea typeface="Calibri" pitchFamily="34" charset="-122"/>
                <a:cs typeface="Calibri" pitchFamily="34" charset="-120"/>
              </a:rPr>
              <a:t>Duration</a:t>
            </a:r>
            <a:pPr indent="0" marL="0">
              <a:buNone/>
            </a:pPr>
            <a:r>
              <a:rPr lang="en-US" sz="1400" dirty="0">
                <a:solidFill>
                  <a:srgbClr val="444444"/>
                </a:solidFill>
                <a:latin typeface="Calibri" pitchFamily="34" charset="0"/>
                <a:ea typeface="Calibri" pitchFamily="34" charset="-122"/>
                <a:cs typeface="Calibri" pitchFamily="34" charset="-120"/>
              </a:rPr>
              <a:t> measured in seasons</a:t>
            </a:r>
            <a:endParaRPr lang="en-US" sz="1400" dirty="0"/>
          </a:p>
          <a:p>
            <a:pPr marL="342900" indent="-342900">
              <a:lnSpc>
                <a:spcPct val="120000"/>
              </a:lnSpc>
              <a:spcAft>
                <a:spcPts val="800"/>
              </a:spcAft>
              <a:buSzPct val="100000"/>
              <a:buChar char="•"/>
            </a:pPr>
            <a:r>
              <a:rPr lang="en-US" sz="1400" b="1" dirty="0">
                <a:solidFill>
                  <a:srgbClr val="444444"/>
                </a:solidFill>
                <a:latin typeface="Calibri" pitchFamily="34" charset="0"/>
                <a:ea typeface="Calibri" pitchFamily="34" charset="-122"/>
                <a:cs typeface="Calibri" pitchFamily="34" charset="-120"/>
              </a:rPr>
              <a:t>Very small relationship</a:t>
            </a:r>
            <a:pPr indent="0" marL="0">
              <a:buNone/>
            </a:pPr>
            <a:r>
              <a:rPr lang="en-US" sz="1400" dirty="0">
                <a:solidFill>
                  <a:srgbClr val="444444"/>
                </a:solidFill>
                <a:latin typeface="Calibri" pitchFamily="34" charset="0"/>
                <a:ea typeface="Calibri" pitchFamily="34" charset="-122"/>
                <a:cs typeface="Calibri" pitchFamily="34" charset="-120"/>
              </a:rPr>
              <a:t> over release years</a:t>
            </a:r>
            <a:endParaRPr lang="en-US" sz="1400" dirty="0"/>
          </a:p>
          <a:p>
            <a:pPr marL="342900" indent="-342900">
              <a:lnSpc>
                <a:spcPct val="120000"/>
              </a:lnSpc>
              <a:spcAft>
                <a:spcPts val="800"/>
              </a:spcAft>
              <a:buSzPct val="100000"/>
              <a:buChar char="•"/>
            </a:pPr>
            <a:r>
              <a:rPr lang="en-US" sz="1400" b="1" dirty="0">
                <a:solidFill>
                  <a:srgbClr val="444444"/>
                </a:solidFill>
                <a:latin typeface="Calibri" pitchFamily="34" charset="0"/>
                <a:ea typeface="Calibri" pitchFamily="34" charset="-122"/>
                <a:cs typeface="Calibri" pitchFamily="34" charset="-120"/>
              </a:rPr>
              <a:t>No strong pattern</a:t>
            </a:r>
            <a:pPr indent="0" marL="0">
              <a:buNone/>
            </a:pPr>
            <a:r>
              <a:rPr lang="en-US" sz="1400" dirty="0">
                <a:solidFill>
                  <a:srgbClr val="444444"/>
                </a:solidFill>
                <a:latin typeface="Calibri" pitchFamily="34" charset="0"/>
                <a:ea typeface="Calibri" pitchFamily="34" charset="-122"/>
                <a:cs typeface="Calibri" pitchFamily="34" charset="-120"/>
              </a:rPr>
              <a:t> in practice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DA7756"/>
          </a:solidFill>
          <a:ln/>
        </p:spPr>
      </p:sp>
      <p:sp>
        <p:nvSpPr>
          <p:cNvPr id="3" name="Text 1"/>
          <p:cNvSpPr/>
          <p:nvPr/>
        </p:nvSpPr>
        <p:spPr>
          <a:xfrm>
            <a:off x="10817352" y="6400800"/>
            <a:ext cx="1097280" cy="320040"/>
          </a:xfrm>
          <a:prstGeom prst="rect">
            <a:avLst/>
          </a:prstGeom>
          <a:noFill/>
          <a:ln/>
        </p:spPr>
        <p:txBody>
          <a:bodyPr wrap="square" rtlCol="0" anchor="ctr"/>
          <a:lstStyle/>
          <a:p>
            <a:pPr algn="r" indent="0" marL="0">
              <a:buNone/>
            </a:pPr>
            <a:r>
              <a:rPr lang="en-US" sz="1000" dirty="0">
                <a:solidFill>
                  <a:srgbClr val="888888"/>
                </a:solidFill>
                <a:latin typeface="Calibri" pitchFamily="34" charset="0"/>
                <a:ea typeface="Calibri" pitchFamily="34" charset="-122"/>
                <a:cs typeface="Calibri" pitchFamily="34" charset="-120"/>
              </a:rPr>
              <a:t>8 / 10</a:t>
            </a:r>
            <a:endParaRPr lang="en-US" sz="1000" dirty="0"/>
          </a:p>
        </p:txBody>
      </p:sp>
      <p:sp>
        <p:nvSpPr>
          <p:cNvPr id="4" name="Shape 2"/>
          <p:cNvSpPr/>
          <p:nvPr/>
        </p:nvSpPr>
        <p:spPr>
          <a:xfrm>
            <a:off x="0" y="6803136"/>
            <a:ext cx="1828800" cy="54864"/>
          </a:xfrm>
          <a:prstGeom prst="rect">
            <a:avLst/>
          </a:prstGeom>
          <a:solidFill>
            <a:srgbClr val="DA7756"/>
          </a:solidFill>
          <a:ln/>
        </p:spPr>
      </p:sp>
      <p:sp>
        <p:nvSpPr>
          <p:cNvPr id="6" name="Text 3"/>
          <p:cNvSpPr/>
          <p:nvPr/>
        </p:nvSpPr>
        <p:spPr>
          <a:xfrm>
            <a:off x="1828800" y="1097280"/>
            <a:ext cx="1828800" cy="1371600"/>
          </a:xfrm>
          <a:prstGeom prst="rect">
            <a:avLst/>
          </a:prstGeom>
          <a:noFill/>
          <a:ln/>
        </p:spPr>
        <p:txBody>
          <a:bodyPr wrap="square" rtlCol="0" anchor="ctr"/>
          <a:lstStyle/>
          <a:p>
            <a:pPr indent="0" marL="0">
              <a:buNone/>
            </a:pPr>
            <a:r>
              <a:rPr lang="en-US" sz="8000" dirty="0">
                <a:solidFill>
                  <a:srgbClr val="DA7756">
                    <a:alpha val="30000"/>
                  </a:srgbClr>
                </a:solidFill>
                <a:latin typeface="Calibri" pitchFamily="34" charset="0"/>
                <a:ea typeface="Calibri" pitchFamily="34" charset="-122"/>
                <a:cs typeface="Calibri" pitchFamily="34" charset="-120"/>
              </a:rPr>
              <a:t>“</a:t>
            </a:r>
            <a:endParaRPr lang="en-US" sz="8000" dirty="0"/>
          </a:p>
        </p:txBody>
      </p:sp>
      <p:sp>
        <p:nvSpPr>
          <p:cNvPr id="7" name="Text 4"/>
          <p:cNvSpPr/>
          <p:nvPr/>
        </p:nvSpPr>
        <p:spPr>
          <a:xfrm>
            <a:off x="1828800" y="2286000"/>
            <a:ext cx="8531352" cy="2286000"/>
          </a:xfrm>
          <a:prstGeom prst="rect">
            <a:avLst/>
          </a:prstGeom>
          <a:noFill/>
          <a:ln/>
        </p:spPr>
        <p:txBody>
          <a:bodyPr wrap="square" rtlCol="0" anchor="ctr"/>
          <a:lstStyle/>
          <a:p>
            <a:pPr algn="ctr" indent="0" marL="0">
              <a:lnSpc>
                <a:spcPct val="140000"/>
              </a:lnSpc>
              <a:buNone/>
            </a:pPr>
            <a:r>
              <a:rPr lang="en-US" sz="2400" i="1" dirty="0">
                <a:solidFill>
                  <a:srgbClr val="222222"/>
                </a:solidFill>
                <a:latin typeface="Calibri" pitchFamily="34" charset="0"/>
                <a:ea typeface="Calibri" pitchFamily="34" charset="-122"/>
                <a:cs typeface="Calibri" pitchFamily="34" charset="-120"/>
              </a:rPr>
              <a:t>Newer movies are slightly shorter on average, while TV shows show almost no meaningful pattern by release year.</a:t>
            </a:r>
            <a:endParaRPr lang="en-US" sz="2400" dirty="0"/>
          </a:p>
        </p:txBody>
      </p:sp>
      <p:sp>
        <p:nvSpPr>
          <p:cNvPr id="8" name="Shape 5"/>
          <p:cNvSpPr/>
          <p:nvPr/>
        </p:nvSpPr>
        <p:spPr>
          <a:xfrm>
            <a:off x="5682996" y="5486400"/>
            <a:ext cx="822960" cy="36576"/>
          </a:xfrm>
          <a:prstGeom prst="rect">
            <a:avLst/>
          </a:prstGeom>
          <a:solidFill>
            <a:srgbClr val="DA7756"/>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DA7756"/>
          </a:solidFill>
          <a:ln/>
        </p:spPr>
      </p:sp>
      <p:sp>
        <p:nvSpPr>
          <p:cNvPr id="3" name="Text 1"/>
          <p:cNvSpPr/>
          <p:nvPr/>
        </p:nvSpPr>
        <p:spPr>
          <a:xfrm>
            <a:off x="10817352" y="6400800"/>
            <a:ext cx="1097280" cy="320040"/>
          </a:xfrm>
          <a:prstGeom prst="rect">
            <a:avLst/>
          </a:prstGeom>
          <a:noFill/>
          <a:ln/>
        </p:spPr>
        <p:txBody>
          <a:bodyPr wrap="square" rtlCol="0" anchor="ctr"/>
          <a:lstStyle/>
          <a:p>
            <a:pPr algn="r" indent="0" marL="0">
              <a:buNone/>
            </a:pPr>
            <a:r>
              <a:rPr lang="en-US" sz="1000" dirty="0">
                <a:solidFill>
                  <a:srgbClr val="888888"/>
                </a:solidFill>
                <a:latin typeface="Calibri" pitchFamily="34" charset="0"/>
                <a:ea typeface="Calibri" pitchFamily="34" charset="-122"/>
                <a:cs typeface="Calibri" pitchFamily="34" charset="-120"/>
              </a:rPr>
              <a:t>9 / 10</a:t>
            </a:r>
            <a:endParaRPr lang="en-US" sz="1000" dirty="0"/>
          </a:p>
        </p:txBody>
      </p:sp>
      <p:sp>
        <p:nvSpPr>
          <p:cNvPr id="4" name="Shape 2"/>
          <p:cNvSpPr/>
          <p:nvPr/>
        </p:nvSpPr>
        <p:spPr>
          <a:xfrm>
            <a:off x="0" y="6803136"/>
            <a:ext cx="1828800" cy="54864"/>
          </a:xfrm>
          <a:prstGeom prst="rect">
            <a:avLst/>
          </a:prstGeom>
          <a:solidFill>
            <a:srgbClr val="DA7756"/>
          </a:solidFill>
          <a:ln/>
        </p:spPr>
      </p:sp>
      <p:sp>
        <p:nvSpPr>
          <p:cNvPr id="6" name="Text 3"/>
          <p:cNvSpPr/>
          <p:nvPr/>
        </p:nvSpPr>
        <p:spPr>
          <a:xfrm>
            <a:off x="914400" y="731520"/>
            <a:ext cx="10360152" cy="731520"/>
          </a:xfrm>
          <a:prstGeom prst="rect">
            <a:avLst/>
          </a:prstGeom>
          <a:noFill/>
          <a:ln/>
        </p:spPr>
        <p:txBody>
          <a:bodyPr wrap="square"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Potential Issues and Limitations</a:t>
            </a:r>
            <a:endParaRPr lang="en-US" sz="2800" dirty="0"/>
          </a:p>
        </p:txBody>
      </p:sp>
      <p:sp>
        <p:nvSpPr>
          <p:cNvPr id="7" name="Text 4"/>
          <p:cNvSpPr/>
          <p:nvPr/>
        </p:nvSpPr>
        <p:spPr>
          <a:xfrm>
            <a:off x="914400" y="1645920"/>
            <a:ext cx="10360152" cy="4297680"/>
          </a:xfrm>
          <a:prstGeom prst="rect">
            <a:avLst/>
          </a:prstGeom>
          <a:noFill/>
          <a:ln/>
        </p:spPr>
        <p:txBody>
          <a:bodyPr wrap="square" rtlCol="0" anchor="t"/>
          <a:lstStyle/>
          <a:p>
            <a:pPr marL="342900" indent="-342900">
              <a:lnSpc>
                <a:spcPct val="120000"/>
              </a:lnSpc>
              <a:spcAft>
                <a:spcPts val="800"/>
              </a:spcAft>
              <a:buSzPct val="100000"/>
              <a:buChar char="•"/>
            </a:pPr>
            <a:r>
              <a:rPr lang="en-US" sz="1600" b="1" dirty="0">
                <a:solidFill>
                  <a:srgbClr val="444444"/>
                </a:solidFill>
                <a:latin typeface="Calibri" pitchFamily="34" charset="0"/>
                <a:ea typeface="Calibri" pitchFamily="34" charset="-122"/>
                <a:cs typeface="Calibri" pitchFamily="34" charset="-120"/>
              </a:rPr>
              <a:t>Catalog data</a:t>
            </a:r>
            <a:pPr indent="0" marL="0">
              <a:buNone/>
            </a:pPr>
            <a:r>
              <a:rPr lang="en-US" sz="1600" dirty="0">
                <a:solidFill>
                  <a:srgbClr val="444444"/>
                </a:solidFill>
                <a:latin typeface="Calibri" pitchFamily="34" charset="0"/>
                <a:ea typeface="Calibri" pitchFamily="34" charset="-122"/>
                <a:cs typeface="Calibri" pitchFamily="34" charset="-120"/>
              </a:rPr>
              <a:t> reflects Netflix listings only</a:t>
            </a:r>
            <a:endParaRPr lang="en-US" sz="1600" dirty="0"/>
          </a:p>
          <a:p>
            <a:pPr marL="342900" indent="-342900">
              <a:lnSpc>
                <a:spcPct val="120000"/>
              </a:lnSpc>
              <a:spcAft>
                <a:spcPts val="800"/>
              </a:spcAft>
              <a:buSzPct val="100000"/>
              <a:buChar char="•"/>
            </a:pPr>
            <a:r>
              <a:rPr lang="en-US" sz="1600" b="1" dirty="0">
                <a:solidFill>
                  <a:srgbClr val="444444"/>
                </a:solidFill>
                <a:latin typeface="Calibri" pitchFamily="34" charset="0"/>
                <a:ea typeface="Calibri" pitchFamily="34" charset="-122"/>
                <a:cs typeface="Calibri" pitchFamily="34" charset="-120"/>
              </a:rPr>
              <a:t>Duration format</a:t>
            </a:r>
            <a:pPr indent="0" marL="0">
              <a:buNone/>
            </a:pPr>
            <a:r>
              <a:rPr lang="en-US" sz="1600" dirty="0">
                <a:solidFill>
                  <a:srgbClr val="444444"/>
                </a:solidFill>
                <a:latin typeface="Calibri" pitchFamily="34" charset="0"/>
                <a:ea typeface="Calibri" pitchFamily="34" charset="-122"/>
                <a:cs typeface="Calibri" pitchFamily="34" charset="-120"/>
              </a:rPr>
              <a:t> differs across movies and TV shows</a:t>
            </a:r>
            <a:endParaRPr lang="en-US" sz="1600" dirty="0"/>
          </a:p>
          <a:p>
            <a:pPr marL="342900" indent="-342900">
              <a:lnSpc>
                <a:spcPct val="120000"/>
              </a:lnSpc>
              <a:spcAft>
                <a:spcPts val="800"/>
              </a:spcAft>
              <a:buSzPct val="100000"/>
              <a:buChar char="•"/>
            </a:pPr>
            <a:r>
              <a:rPr lang="en-US" sz="1600" b="1" dirty="0">
                <a:solidFill>
                  <a:srgbClr val="444444"/>
                </a:solidFill>
                <a:latin typeface="Calibri" pitchFamily="34" charset="0"/>
                <a:ea typeface="Calibri" pitchFamily="34" charset="-122"/>
                <a:cs typeface="Calibri" pitchFamily="34" charset="-120"/>
              </a:rPr>
              <a:t>Release year alone</a:t>
            </a:r>
            <a:pPr indent="0" marL="0">
              <a:buNone/>
            </a:pPr>
            <a:r>
              <a:rPr lang="en-US" sz="1600" dirty="0">
                <a:solidFill>
                  <a:srgbClr val="444444"/>
                </a:solidFill>
                <a:latin typeface="Calibri" pitchFamily="34" charset="0"/>
                <a:ea typeface="Calibri" pitchFamily="34" charset="-122"/>
                <a:cs typeface="Calibri" pitchFamily="34" charset="-120"/>
              </a:rPr>
              <a:t> cannot explain content length</a:t>
            </a:r>
            <a:endParaRPr lang="en-US" sz="1600" dirty="0"/>
          </a:p>
          <a:p>
            <a:pPr marL="342900" indent="-342900">
              <a:lnSpc>
                <a:spcPct val="120000"/>
              </a:lnSpc>
              <a:spcAft>
                <a:spcPts val="800"/>
              </a:spcAft>
              <a:buSzPct val="100000"/>
              <a:buChar char="•"/>
            </a:pPr>
            <a:r>
              <a:rPr lang="en-US" sz="1600" b="1" dirty="0">
                <a:solidFill>
                  <a:srgbClr val="444444"/>
                </a:solidFill>
                <a:latin typeface="Calibri" pitchFamily="34" charset="0"/>
                <a:ea typeface="Calibri" pitchFamily="34" charset="-122"/>
                <a:cs typeface="Calibri" pitchFamily="34" charset="-120"/>
              </a:rPr>
              <a:t>Weak relationships</a:t>
            </a:r>
            <a:pPr indent="0" marL="0">
              <a:buNone/>
            </a:pPr>
            <a:r>
              <a:rPr lang="en-US" sz="1600" dirty="0">
                <a:solidFill>
                  <a:srgbClr val="444444"/>
                </a:solidFill>
                <a:latin typeface="Calibri" pitchFamily="34" charset="0"/>
                <a:ea typeface="Calibri" pitchFamily="34" charset="-122"/>
                <a:cs typeface="Calibri" pitchFamily="34" charset="-120"/>
              </a:rPr>
              <a:t> require cautious interpretation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DA7756"/>
          </a:solidFill>
          <a:ln/>
        </p:spPr>
      </p:sp>
      <p:sp>
        <p:nvSpPr>
          <p:cNvPr id="3" name="Text 1"/>
          <p:cNvSpPr/>
          <p:nvPr/>
        </p:nvSpPr>
        <p:spPr>
          <a:xfrm>
            <a:off x="10817352" y="6400800"/>
            <a:ext cx="1097280" cy="320040"/>
          </a:xfrm>
          <a:prstGeom prst="rect">
            <a:avLst/>
          </a:prstGeom>
          <a:noFill/>
          <a:ln/>
        </p:spPr>
        <p:txBody>
          <a:bodyPr wrap="square" rtlCol="0" anchor="ctr"/>
          <a:lstStyle/>
          <a:p>
            <a:pPr algn="r" indent="0" marL="0">
              <a:buNone/>
            </a:pPr>
            <a:r>
              <a:rPr lang="en-US" sz="1000" dirty="0">
                <a:solidFill>
                  <a:srgbClr val="888888"/>
                </a:solidFill>
                <a:latin typeface="Calibri" pitchFamily="34" charset="0"/>
                <a:ea typeface="Calibri" pitchFamily="34" charset="-122"/>
                <a:cs typeface="Calibri" pitchFamily="34" charset="-120"/>
              </a:rPr>
              <a:t>10 / 10</a:t>
            </a:r>
            <a:endParaRPr lang="en-US" sz="1000" dirty="0"/>
          </a:p>
        </p:txBody>
      </p:sp>
      <p:sp>
        <p:nvSpPr>
          <p:cNvPr id="4" name="Shape 2"/>
          <p:cNvSpPr/>
          <p:nvPr/>
        </p:nvSpPr>
        <p:spPr>
          <a:xfrm>
            <a:off x="0" y="6803136"/>
            <a:ext cx="1828800" cy="54864"/>
          </a:xfrm>
          <a:prstGeom prst="rect">
            <a:avLst/>
          </a:prstGeom>
          <a:solidFill>
            <a:srgbClr val="DA7756"/>
          </a:solidFill>
          <a:ln/>
        </p:spPr>
      </p:sp>
      <p:sp>
        <p:nvSpPr>
          <p:cNvPr id="6" name="Shape 3"/>
          <p:cNvSpPr/>
          <p:nvPr/>
        </p:nvSpPr>
        <p:spPr>
          <a:xfrm>
            <a:off x="914400" y="731520"/>
            <a:ext cx="822960" cy="54864"/>
          </a:xfrm>
          <a:prstGeom prst="rect">
            <a:avLst/>
          </a:prstGeom>
          <a:solidFill>
            <a:srgbClr val="DA7756"/>
          </a:solidFill>
          <a:ln/>
        </p:spPr>
      </p:sp>
      <p:sp>
        <p:nvSpPr>
          <p:cNvPr id="7" name="Text 4"/>
          <p:cNvSpPr/>
          <p:nvPr/>
        </p:nvSpPr>
        <p:spPr>
          <a:xfrm>
            <a:off x="914400" y="1005840"/>
            <a:ext cx="10360152" cy="731520"/>
          </a:xfrm>
          <a:prstGeom prst="rect">
            <a:avLst/>
          </a:prstGeom>
          <a:noFill/>
          <a:ln/>
        </p:spPr>
        <p:txBody>
          <a:bodyPr wrap="square" rtlCol="0" anchor="ctr"/>
          <a:lstStyle/>
          <a:p>
            <a:pPr indent="0" marL="0">
              <a:buNone/>
            </a:pPr>
            <a:r>
              <a:rPr lang="en-US" sz="2800" b="1" dirty="0">
                <a:solidFill>
                  <a:srgbClr val="222222"/>
                </a:solidFill>
                <a:latin typeface="Calibri" pitchFamily="34" charset="0"/>
                <a:ea typeface="Calibri" pitchFamily="34" charset="-122"/>
                <a:cs typeface="Calibri" pitchFamily="34" charset="-120"/>
              </a:rPr>
              <a:t>Key Takeaways</a:t>
            </a:r>
            <a:endParaRPr lang="en-US" sz="2800" dirty="0"/>
          </a:p>
        </p:txBody>
      </p:sp>
      <p:sp>
        <p:nvSpPr>
          <p:cNvPr id="8" name="Text 5"/>
          <p:cNvSpPr/>
          <p:nvPr/>
        </p:nvSpPr>
        <p:spPr>
          <a:xfrm>
            <a:off x="914400" y="2011680"/>
            <a:ext cx="10360152" cy="4114800"/>
          </a:xfrm>
          <a:prstGeom prst="rect">
            <a:avLst/>
          </a:prstGeom>
          <a:noFill/>
          <a:ln/>
        </p:spPr>
        <p:txBody>
          <a:bodyPr wrap="square" rtlCol="0" anchor="t"/>
          <a:lstStyle/>
          <a:p>
            <a:pPr>
              <a:lnSpc>
                <a:spcPct val="120000"/>
              </a:lnSpc>
              <a:spcAft>
                <a:spcPts val="1000"/>
              </a:spcAft>
            </a:pPr>
            <a:r>
              <a:rPr lang="en-US" sz="1800" b="1" dirty="0">
                <a:solidFill>
                  <a:srgbClr val="444444"/>
                </a:solidFill>
                <a:latin typeface="Calibri" pitchFamily="34" charset="0"/>
                <a:ea typeface="Calibri" pitchFamily="34" charset="-122"/>
                <a:cs typeface="Calibri" pitchFamily="34" charset="-120"/>
              </a:rPr>
              <a:t>8,807 titles</a:t>
            </a:r>
            <a:pPr indent="0" marL="0">
              <a:buNone/>
            </a:pPr>
            <a:r>
              <a:rPr lang="en-US" sz="1800" dirty="0">
                <a:solidFill>
                  <a:srgbClr val="444444"/>
                </a:solidFill>
                <a:latin typeface="Calibri" pitchFamily="34" charset="0"/>
                <a:ea typeface="Calibri" pitchFamily="34" charset="-122"/>
                <a:cs typeface="Calibri" pitchFamily="34" charset="-120"/>
              </a:rPr>
              <a:t> formed the analysis sample</a:t>
            </a:r>
            <a:endParaRPr lang="en-US" sz="1800" dirty="0"/>
          </a:p>
          <a:p>
            <a:pPr>
              <a:lnSpc>
                <a:spcPct val="120000"/>
              </a:lnSpc>
              <a:spcAft>
                <a:spcPts val="1000"/>
              </a:spcAft>
            </a:pPr>
            <a:r>
              <a:rPr lang="en-US" sz="1800" b="1" dirty="0">
                <a:solidFill>
                  <a:srgbClr val="444444"/>
                </a:solidFill>
                <a:latin typeface="Calibri" pitchFamily="34" charset="0"/>
                <a:ea typeface="Calibri" pitchFamily="34" charset="-122"/>
                <a:cs typeface="Calibri" pitchFamily="34" charset="-120"/>
              </a:rPr>
              <a:t>Movies</a:t>
            </a:r>
            <a:pPr indent="0" marL="0">
              <a:buNone/>
            </a:pPr>
            <a:r>
              <a:rPr lang="en-US" sz="1800" dirty="0">
                <a:solidFill>
                  <a:srgbClr val="444444"/>
                </a:solidFill>
                <a:latin typeface="Calibri" pitchFamily="34" charset="0"/>
                <a:ea typeface="Calibri" pitchFamily="34" charset="-122"/>
                <a:cs typeface="Calibri" pitchFamily="34" charset="-120"/>
              </a:rPr>
              <a:t> show a weak negative duration trend over time</a:t>
            </a:r>
            <a:endParaRPr lang="en-US" sz="1800" dirty="0"/>
          </a:p>
          <a:p>
            <a:pPr>
              <a:lnSpc>
                <a:spcPct val="120000"/>
              </a:lnSpc>
              <a:spcAft>
                <a:spcPts val="1000"/>
              </a:spcAft>
            </a:pPr>
            <a:r>
              <a:rPr lang="en-US" sz="1800" b="1" dirty="0">
                <a:solidFill>
                  <a:srgbClr val="444444"/>
                </a:solidFill>
                <a:latin typeface="Calibri" pitchFamily="34" charset="0"/>
                <a:ea typeface="Calibri" pitchFamily="34" charset="-122"/>
                <a:cs typeface="Calibri" pitchFamily="34" charset="-120"/>
              </a:rPr>
              <a:t>TV shows</a:t>
            </a:r>
            <a:pPr indent="0" marL="0">
              <a:buNone/>
            </a:pPr>
            <a:r>
              <a:rPr lang="en-US" sz="1800" dirty="0">
                <a:solidFill>
                  <a:srgbClr val="444444"/>
                </a:solidFill>
                <a:latin typeface="Calibri" pitchFamily="34" charset="0"/>
                <a:ea typeface="Calibri" pitchFamily="34" charset="-122"/>
                <a:cs typeface="Calibri" pitchFamily="34" charset="-120"/>
              </a:rPr>
              <a:t> show only a very small relationship</a:t>
            </a:r>
            <a:endParaRPr lang="en-US" sz="1800" dirty="0"/>
          </a:p>
          <a:p>
            <a:pPr>
              <a:lnSpc>
                <a:spcPct val="120000"/>
              </a:lnSpc>
              <a:spcAft>
                <a:spcPts val="1000"/>
              </a:spcAft>
            </a:pPr>
            <a:r>
              <a:rPr lang="en-US" sz="1800" b="1" dirty="0">
                <a:solidFill>
                  <a:srgbClr val="444444"/>
                </a:solidFill>
                <a:latin typeface="Calibri" pitchFamily="34" charset="0"/>
                <a:ea typeface="Calibri" pitchFamily="34" charset="-122"/>
                <a:cs typeface="Calibri" pitchFamily="34" charset="-120"/>
              </a:rPr>
              <a:t>Conclusion:</a:t>
            </a:r>
            <a:pPr indent="0" marL="0">
              <a:buNone/>
            </a:pPr>
            <a:r>
              <a:rPr lang="en-US" sz="1800" dirty="0">
                <a:solidFill>
                  <a:srgbClr val="444444"/>
                </a:solidFill>
                <a:latin typeface="Calibri" pitchFamily="34" charset="0"/>
                <a:ea typeface="Calibri" pitchFamily="34" charset="-122"/>
                <a:cs typeface="Calibri" pitchFamily="34" charset="-120"/>
              </a:rPr>
              <a:t> Release year has limited practical influence on duration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2026-05-04T12:38:11Z</dcterms:created>
  <dcterms:modified xsi:type="dcterms:W3CDTF">2026-05-04T12:38:11Z</dcterms:modified>
</cp:coreProperties>
</file>