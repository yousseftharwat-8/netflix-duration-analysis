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04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85" d="100"/>
          <a:sy n="85" d="100"/>
        </p:scale>
        <p:origin x="56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9555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presentation summarizes our analysis of the uploaded Netflix dataset. We will move from the study objective, to descriptive findings, to visuals, and end with the main statistical conclusion we can discuss with the doctor.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frames the study. We are not trying to analyze user behavior or revenue. Instead, we are examining what the catalog looks like, how it changed over time, and whether movies and TV shows differ in release recency.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takeaway is scale. The dataset contains 8,807 titles, giving us a broad enough sample to describe the Netflix catalog and compare major content groups with confidence.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comparison shows the basic structure of the platform. Movies clearly dominate the catalog by count, while TV shows are fewer but stand out in the later statistical finding as newer on average.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visual reinforces the count split we just saw. It is an effective chart to discuss early because it gives the audience an immediate understanding of how the Netflix catalog is weighted toward films.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tells the catalog growth story. The main point is not just that additions were high, but that they concentrated around 2019 and 2020, which suggests a period of especially strong expansion in the dataset.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Ratings help us describe the maturity profile of the catalog. In presenting this slide, emphasize that these are the most common rating categories observed in the dataset, not a measure of popularity or viewership.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highlights the strongest genre concentrations in the catalog. When discussing it, connect the genre mix back to the platform’s breadth and explain that these categories dominate the available titles in the dataset.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analytical conclusion from the hypothesis test. It moves us beyond description and shows that the difference between content types was meaningful enough to be statistically significant in the analysis.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dataset shows a movie-heavy catalog, strong growth in additions up to 2019 and 2020, concentrated rating and genre patterns, and one important statistical result: TV shows are newer on average than movies. These are the points we should emphasize in front of the doctor.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92F"/>
        </a:solidFill>
        <a:effectLst/>
      </p:bgPr>
    </p:bg>
    <p:spTree>
      <p:nvGrpSpPr>
        <p:cNvPr id="1" name=""/>
        <p:cNvGrpSpPr/>
        <p:nvPr/>
      </p:nvGrpSpPr>
      <p:grpSpPr>
        <a:xfrm>
          <a:off x="0" y="0"/>
          <a:ext cx="0" cy="0"/>
          <a:chOff x="0" y="0"/>
          <a:chExt cx="0" cy="0"/>
        </a:xfrm>
      </p:grpSpPr>
      <p:sp>
        <p:nvSpPr>
          <p:cNvPr id="2" name="Text 0"/>
          <p:cNvSpPr/>
          <p:nvPr/>
        </p:nvSpPr>
        <p:spPr>
          <a:xfrm>
            <a:off x="10817352" y="6400800"/>
            <a:ext cx="1097280" cy="320040"/>
          </a:xfrm>
          <a:prstGeom prst="rect">
            <a:avLst/>
          </a:prstGeom>
          <a:noFill/>
          <a:ln/>
        </p:spPr>
        <p:txBody>
          <a:bodyPr wrap="square" rtlCol="0" anchor="ctr"/>
          <a:lstStyle/>
          <a:p>
            <a:pPr marL="0" indent="0" algn="r">
              <a:buNone/>
            </a:pPr>
            <a:r>
              <a:rPr lang="en-US" sz="1000" dirty="0">
                <a:solidFill>
                  <a:srgbClr val="8892B0"/>
                </a:solidFill>
                <a:latin typeface="Calibri" pitchFamily="34" charset="0"/>
                <a:ea typeface="Calibri" pitchFamily="34" charset="-122"/>
                <a:cs typeface="Calibri" pitchFamily="34" charset="-120"/>
              </a:rPr>
              <a:t>1 / 10</a:t>
            </a:r>
            <a:endParaRPr lang="en-US" sz="1000" dirty="0"/>
          </a:p>
        </p:txBody>
      </p:sp>
      <p:sp>
        <p:nvSpPr>
          <p:cNvPr id="4" name="Text 1"/>
          <p:cNvSpPr/>
          <p:nvPr/>
        </p:nvSpPr>
        <p:spPr>
          <a:xfrm>
            <a:off x="914400" y="2011680"/>
            <a:ext cx="10360152" cy="1371600"/>
          </a:xfrm>
          <a:prstGeom prst="rect">
            <a:avLst/>
          </a:prstGeom>
          <a:noFill/>
          <a:ln/>
          <a:effectLst>
            <a:outerShdw blurRad="76200" dist="25400" dir="16200000" algn="bl" rotWithShape="0">
              <a:srgbClr val="000000">
                <a:alpha val="20000"/>
              </a:srgbClr>
            </a:outerShdw>
          </a:effectLst>
        </p:spPr>
        <p:txBody>
          <a:bodyPr wrap="square" rtlCol="0" anchor="ctr"/>
          <a:lstStyle/>
          <a:p>
            <a:pPr marL="0" indent="0" algn="ctr">
              <a:buNone/>
            </a:pPr>
            <a:r>
              <a:rPr lang="en-US" sz="3600" b="1" dirty="0">
                <a:solidFill>
                  <a:srgbClr val="E6F1FF"/>
                </a:solidFill>
                <a:latin typeface="Calibri" pitchFamily="34" charset="0"/>
                <a:ea typeface="Calibri" pitchFamily="34" charset="-122"/>
                <a:cs typeface="Calibri" pitchFamily="34" charset="-120"/>
              </a:rPr>
              <a:t>Netflix Catalog Analysis</a:t>
            </a:r>
            <a:endParaRPr lang="en-US" sz="3600" dirty="0"/>
          </a:p>
        </p:txBody>
      </p:sp>
      <p:sp>
        <p:nvSpPr>
          <p:cNvPr id="5" name="Text 2"/>
          <p:cNvSpPr/>
          <p:nvPr/>
        </p:nvSpPr>
        <p:spPr>
          <a:xfrm>
            <a:off x="914400" y="3474720"/>
            <a:ext cx="10360152" cy="731520"/>
          </a:xfrm>
          <a:prstGeom prst="rect">
            <a:avLst/>
          </a:prstGeom>
          <a:noFill/>
          <a:ln/>
        </p:spPr>
        <p:txBody>
          <a:bodyPr wrap="square" rtlCol="0" anchor="ctr"/>
          <a:lstStyle/>
          <a:p>
            <a:pPr marL="0" indent="0" algn="ctr">
              <a:buNone/>
            </a:pPr>
            <a:r>
              <a:rPr lang="en-US" sz="2000" dirty="0">
                <a:solidFill>
                  <a:srgbClr val="8892B0"/>
                </a:solidFill>
                <a:latin typeface="Calibri" pitchFamily="34" charset="0"/>
                <a:ea typeface="Calibri" pitchFamily="34" charset="-122"/>
                <a:cs typeface="Calibri" pitchFamily="34" charset="-120"/>
              </a:rPr>
              <a:t>Content mix, catalog trends, and a key statistical finding</a:t>
            </a:r>
            <a:endParaRPr lang="en-US" sz="2000" dirty="0"/>
          </a:p>
        </p:txBody>
      </p:sp>
      <p:sp>
        <p:nvSpPr>
          <p:cNvPr id="6" name="Shape 3"/>
          <p:cNvSpPr/>
          <p:nvPr/>
        </p:nvSpPr>
        <p:spPr>
          <a:xfrm>
            <a:off x="5545836" y="4389120"/>
            <a:ext cx="1097280" cy="54864"/>
          </a:xfrm>
          <a:prstGeom prst="rect">
            <a:avLst/>
          </a:prstGeom>
          <a:solidFill>
            <a:srgbClr val="64FFDA"/>
          </a:solidFill>
          <a:ln/>
        </p:spPr>
      </p:sp>
      <p:sp>
        <p:nvSpPr>
          <p:cNvPr id="7" name="Text 2">
            <a:extLst>
              <a:ext uri="{FF2B5EF4-FFF2-40B4-BE49-F238E27FC236}">
                <a16:creationId xmlns:a16="http://schemas.microsoft.com/office/drawing/2014/main" id="{949444A2-00B1-4B6F-A2CF-13C3C7A96E14}"/>
              </a:ext>
            </a:extLst>
          </p:cNvPr>
          <p:cNvSpPr/>
          <p:nvPr/>
        </p:nvSpPr>
        <p:spPr>
          <a:xfrm>
            <a:off x="911083" y="4358640"/>
            <a:ext cx="10360152" cy="1558066"/>
          </a:xfrm>
          <a:prstGeom prst="rect">
            <a:avLst/>
          </a:prstGeom>
          <a:noFill/>
          <a:ln/>
        </p:spPr>
        <p:txBody>
          <a:bodyPr wrap="square" rtlCol="0" anchor="ctr"/>
          <a:lstStyle/>
          <a:p>
            <a:pPr algn="ctr"/>
            <a:r>
              <a:rPr lang="en-US" sz="2000" dirty="0">
                <a:solidFill>
                  <a:srgbClr val="8892B0"/>
                </a:solidFill>
                <a:latin typeface="Calibri" pitchFamily="34" charset="0"/>
                <a:ea typeface="Calibri" pitchFamily="34" charset="-122"/>
                <a:cs typeface="Calibri" pitchFamily="34" charset="-120"/>
              </a:rPr>
              <a:t>Youssef </a:t>
            </a:r>
            <a:r>
              <a:rPr lang="en-US" sz="2000" dirty="0" err="1">
                <a:solidFill>
                  <a:srgbClr val="8892B0"/>
                </a:solidFill>
                <a:latin typeface="Calibri" pitchFamily="34" charset="0"/>
                <a:ea typeface="Calibri" pitchFamily="34" charset="-122"/>
                <a:cs typeface="Calibri" pitchFamily="34" charset="-120"/>
              </a:rPr>
              <a:t>Tharwat</a:t>
            </a:r>
            <a:r>
              <a:rPr lang="en-US" sz="2000" dirty="0">
                <a:solidFill>
                  <a:srgbClr val="8892B0"/>
                </a:solidFill>
                <a:latin typeface="Calibri" pitchFamily="34" charset="0"/>
                <a:ea typeface="Calibri" pitchFamily="34" charset="-122"/>
                <a:cs typeface="Calibri" pitchFamily="34" charset="-120"/>
              </a:rPr>
              <a:t> 24-101128</a:t>
            </a:r>
          </a:p>
          <a:p>
            <a:pPr algn="ctr"/>
            <a:r>
              <a:rPr lang="en-US" sz="2000" dirty="0" err="1">
                <a:solidFill>
                  <a:srgbClr val="8892B0"/>
                </a:solidFill>
                <a:latin typeface="Calibri" pitchFamily="34" charset="0"/>
                <a:ea typeface="Calibri" pitchFamily="34" charset="-122"/>
                <a:cs typeface="Calibri" pitchFamily="34" charset="-120"/>
              </a:rPr>
              <a:t>Saifeldeen</a:t>
            </a:r>
            <a:r>
              <a:rPr lang="en-US" sz="2000" dirty="0">
                <a:solidFill>
                  <a:srgbClr val="8892B0"/>
                </a:solidFill>
                <a:latin typeface="Calibri" pitchFamily="34" charset="0"/>
                <a:ea typeface="Calibri" pitchFamily="34" charset="-122"/>
                <a:cs typeface="Calibri" pitchFamily="34" charset="-120"/>
              </a:rPr>
              <a:t> Abdallah 24-101154</a:t>
            </a:r>
          </a:p>
          <a:p>
            <a:pPr algn="ctr"/>
            <a:r>
              <a:rPr lang="en-US" sz="2000" dirty="0">
                <a:solidFill>
                  <a:srgbClr val="8892B0"/>
                </a:solidFill>
                <a:latin typeface="Calibri" pitchFamily="34" charset="0"/>
                <a:ea typeface="Calibri" pitchFamily="34" charset="-122"/>
                <a:cs typeface="Calibri" pitchFamily="34" charset="-120"/>
              </a:rPr>
              <a:t>Bassem Tarek 24-101021</a:t>
            </a:r>
          </a:p>
          <a:p>
            <a:pPr algn="ctr"/>
            <a:r>
              <a:rPr lang="en-US" sz="2000" dirty="0">
                <a:solidFill>
                  <a:srgbClr val="8892B0"/>
                </a:solidFill>
                <a:latin typeface="Calibri" pitchFamily="34" charset="0"/>
                <a:ea typeface="Calibri" pitchFamily="34" charset="-122"/>
                <a:cs typeface="Calibri" pitchFamily="34" charset="-120"/>
              </a:rPr>
              <a:t>Karim Wael 24-101546</a:t>
            </a:r>
            <a:endParaRPr lang="en-US" sz="2000" dirty="0">
              <a:solidFill>
                <a:srgbClr val="404C66"/>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92F"/>
        </a:solidFill>
        <a:effectLst/>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64FFDA"/>
          </a:solidFill>
          <a:ln/>
        </p:spPr>
      </p:sp>
      <p:sp>
        <p:nvSpPr>
          <p:cNvPr id="3" name="Text 1"/>
          <p:cNvSpPr/>
          <p:nvPr/>
        </p:nvSpPr>
        <p:spPr>
          <a:xfrm>
            <a:off x="10817352" y="6400800"/>
            <a:ext cx="1097280" cy="320040"/>
          </a:xfrm>
          <a:prstGeom prst="rect">
            <a:avLst/>
          </a:prstGeom>
          <a:noFill/>
          <a:ln/>
        </p:spPr>
        <p:txBody>
          <a:bodyPr wrap="square" rtlCol="0" anchor="ctr"/>
          <a:lstStyle/>
          <a:p>
            <a:pPr marL="0" indent="0" algn="r">
              <a:buNone/>
            </a:pPr>
            <a:r>
              <a:rPr lang="en-US" sz="1000" dirty="0">
                <a:solidFill>
                  <a:srgbClr val="8892B0"/>
                </a:solidFill>
                <a:latin typeface="Calibri" pitchFamily="34" charset="0"/>
                <a:ea typeface="Calibri" pitchFamily="34" charset="-122"/>
                <a:cs typeface="Calibri" pitchFamily="34" charset="-120"/>
              </a:rPr>
              <a:t>2 / 10</a:t>
            </a:r>
            <a:endParaRPr lang="en-US" sz="1000" dirty="0"/>
          </a:p>
        </p:txBody>
      </p:sp>
      <p:sp>
        <p:nvSpPr>
          <p:cNvPr id="4" name="Shape 2"/>
          <p:cNvSpPr/>
          <p:nvPr/>
        </p:nvSpPr>
        <p:spPr>
          <a:xfrm>
            <a:off x="0" y="6803136"/>
            <a:ext cx="1828800" cy="54864"/>
          </a:xfrm>
          <a:prstGeom prst="rect">
            <a:avLst/>
          </a:prstGeom>
          <a:solidFill>
            <a:srgbClr val="64FFDA"/>
          </a:solidFill>
          <a:ln/>
        </p:spPr>
      </p:sp>
      <p:sp>
        <p:nvSpPr>
          <p:cNvPr id="6" name="Text 3"/>
          <p:cNvSpPr/>
          <p:nvPr/>
        </p:nvSpPr>
        <p:spPr>
          <a:xfrm>
            <a:off x="914400" y="731520"/>
            <a:ext cx="10360152" cy="731520"/>
          </a:xfrm>
          <a:prstGeom prst="rect">
            <a:avLst/>
          </a:prstGeom>
          <a:noFill/>
          <a:ln/>
        </p:spPr>
        <p:txBody>
          <a:bodyPr wrap="square" rtlCol="0" anchor="ctr"/>
          <a:lstStyle/>
          <a:p>
            <a:pPr marL="0" indent="0">
              <a:buNone/>
            </a:pPr>
            <a:r>
              <a:rPr lang="en-US" sz="2800" b="1" dirty="0">
                <a:solidFill>
                  <a:srgbClr val="E6F1FF"/>
                </a:solidFill>
                <a:latin typeface="Calibri" pitchFamily="34" charset="0"/>
                <a:ea typeface="Calibri" pitchFamily="34" charset="-122"/>
                <a:cs typeface="Calibri" pitchFamily="34" charset="-120"/>
              </a:rPr>
              <a:t>Objective and Analytical Focus</a:t>
            </a:r>
            <a:endParaRPr lang="en-US" sz="2800" dirty="0"/>
          </a:p>
        </p:txBody>
      </p:sp>
      <p:sp>
        <p:nvSpPr>
          <p:cNvPr id="7" name="Text 4"/>
          <p:cNvSpPr/>
          <p:nvPr/>
        </p:nvSpPr>
        <p:spPr>
          <a:xfrm>
            <a:off x="914400" y="1645920"/>
            <a:ext cx="10360152" cy="4297680"/>
          </a:xfrm>
          <a:prstGeom prst="rect">
            <a:avLst/>
          </a:prstGeom>
          <a:noFill/>
          <a:ln/>
        </p:spPr>
        <p:txBody>
          <a:bodyPr wrap="square" rtlCol="0" anchor="t"/>
          <a:lstStyle/>
          <a:p>
            <a:pPr marL="342900" indent="-342900">
              <a:lnSpc>
                <a:spcPct val="120000"/>
              </a:lnSpc>
              <a:spcAft>
                <a:spcPts val="800"/>
              </a:spcAft>
              <a:buSzPct val="100000"/>
              <a:buChar char="•"/>
            </a:pPr>
            <a:r>
              <a:rPr lang="en-US" sz="1600" b="1" dirty="0">
                <a:solidFill>
                  <a:srgbClr val="A8B2D1"/>
                </a:solidFill>
                <a:latin typeface="Calibri" pitchFamily="34" charset="0"/>
                <a:ea typeface="Calibri" pitchFamily="34" charset="-122"/>
                <a:cs typeface="Calibri" pitchFamily="34" charset="-120"/>
              </a:rPr>
              <a:t>Objective:</a:t>
            </a:r>
            <a:r>
              <a:rPr lang="en-US" sz="1600" dirty="0">
                <a:solidFill>
                  <a:srgbClr val="A8B2D1"/>
                </a:solidFill>
                <a:latin typeface="Calibri" pitchFamily="34" charset="0"/>
                <a:ea typeface="Calibri" pitchFamily="34" charset="-122"/>
                <a:cs typeface="Calibri" pitchFamily="34" charset="-120"/>
              </a:rPr>
              <a:t> analyze Netflix catalog structure and trends</a:t>
            </a:r>
            <a:endParaRPr lang="en-US" sz="1600" dirty="0"/>
          </a:p>
          <a:p>
            <a:pPr marL="342900" indent="-342900">
              <a:lnSpc>
                <a:spcPct val="120000"/>
              </a:lnSpc>
              <a:spcAft>
                <a:spcPts val="800"/>
              </a:spcAft>
              <a:buSzPct val="100000"/>
              <a:buChar char="•"/>
            </a:pPr>
            <a:r>
              <a:rPr lang="en-US" sz="1600" b="1" dirty="0">
                <a:solidFill>
                  <a:srgbClr val="A8B2D1"/>
                </a:solidFill>
                <a:latin typeface="Calibri" pitchFamily="34" charset="0"/>
                <a:ea typeface="Calibri" pitchFamily="34" charset="-122"/>
                <a:cs typeface="Calibri" pitchFamily="34" charset="-120"/>
              </a:rPr>
              <a:t>Dataset:</a:t>
            </a:r>
            <a:r>
              <a:rPr lang="en-US" sz="1600" dirty="0">
                <a:solidFill>
                  <a:srgbClr val="A8B2D1"/>
                </a:solidFill>
                <a:latin typeface="Calibri" pitchFamily="34" charset="0"/>
                <a:ea typeface="Calibri" pitchFamily="34" charset="-122"/>
                <a:cs typeface="Calibri" pitchFamily="34" charset="-120"/>
              </a:rPr>
              <a:t> uploaded netflix_titles.csv file</a:t>
            </a:r>
            <a:endParaRPr lang="en-US" sz="1600" dirty="0"/>
          </a:p>
          <a:p>
            <a:pPr marL="342900" indent="-342900">
              <a:lnSpc>
                <a:spcPct val="120000"/>
              </a:lnSpc>
              <a:spcAft>
                <a:spcPts val="800"/>
              </a:spcAft>
              <a:buSzPct val="100000"/>
              <a:buChar char="•"/>
            </a:pPr>
            <a:r>
              <a:rPr lang="en-US" sz="1600" b="1" dirty="0">
                <a:solidFill>
                  <a:srgbClr val="A8B2D1"/>
                </a:solidFill>
                <a:latin typeface="Calibri" pitchFamily="34" charset="0"/>
                <a:ea typeface="Calibri" pitchFamily="34" charset="-122"/>
                <a:cs typeface="Calibri" pitchFamily="34" charset="-120"/>
              </a:rPr>
              <a:t>Focus areas:</a:t>
            </a:r>
            <a:r>
              <a:rPr lang="en-US" sz="1600" dirty="0">
                <a:solidFill>
                  <a:srgbClr val="A8B2D1"/>
                </a:solidFill>
                <a:latin typeface="Calibri" pitchFamily="34" charset="0"/>
                <a:ea typeface="Calibri" pitchFamily="34" charset="-122"/>
                <a:cs typeface="Calibri" pitchFamily="34" charset="-120"/>
              </a:rPr>
              <a:t> type, ratings, genres, and yearly additions</a:t>
            </a:r>
            <a:endParaRPr lang="en-US" sz="1600" dirty="0"/>
          </a:p>
          <a:p>
            <a:pPr marL="342900" indent="-342900">
              <a:lnSpc>
                <a:spcPct val="120000"/>
              </a:lnSpc>
              <a:spcAft>
                <a:spcPts val="800"/>
              </a:spcAft>
              <a:buSzPct val="100000"/>
              <a:buChar char="•"/>
            </a:pPr>
            <a:r>
              <a:rPr lang="en-US" sz="1600" b="1" dirty="0">
                <a:solidFill>
                  <a:srgbClr val="A8B2D1"/>
                </a:solidFill>
                <a:latin typeface="Calibri" pitchFamily="34" charset="0"/>
                <a:ea typeface="Calibri" pitchFamily="34" charset="-122"/>
                <a:cs typeface="Calibri" pitchFamily="34" charset="-120"/>
              </a:rPr>
              <a:t>Hypothesis test:</a:t>
            </a:r>
            <a:r>
              <a:rPr lang="en-US" sz="1600" dirty="0">
                <a:solidFill>
                  <a:srgbClr val="A8B2D1"/>
                </a:solidFill>
                <a:latin typeface="Calibri" pitchFamily="34" charset="0"/>
                <a:ea typeface="Calibri" pitchFamily="34" charset="-122"/>
                <a:cs typeface="Calibri" pitchFamily="34" charset="-120"/>
              </a:rPr>
              <a:t> compare movies and TV shows by average recency</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92F"/>
        </a:solidFill>
        <a:effectLst/>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64FFDA"/>
          </a:solidFill>
          <a:ln/>
        </p:spPr>
      </p:sp>
      <p:sp>
        <p:nvSpPr>
          <p:cNvPr id="3" name="Text 1"/>
          <p:cNvSpPr/>
          <p:nvPr/>
        </p:nvSpPr>
        <p:spPr>
          <a:xfrm>
            <a:off x="10817352" y="6400800"/>
            <a:ext cx="1097280" cy="320040"/>
          </a:xfrm>
          <a:prstGeom prst="rect">
            <a:avLst/>
          </a:prstGeom>
          <a:noFill/>
          <a:ln/>
        </p:spPr>
        <p:txBody>
          <a:bodyPr wrap="square" rtlCol="0" anchor="ctr"/>
          <a:lstStyle/>
          <a:p>
            <a:pPr marL="0" indent="0" algn="r">
              <a:buNone/>
            </a:pPr>
            <a:r>
              <a:rPr lang="en-US" sz="1000" dirty="0">
                <a:solidFill>
                  <a:srgbClr val="8892B0"/>
                </a:solidFill>
                <a:latin typeface="Calibri" pitchFamily="34" charset="0"/>
                <a:ea typeface="Calibri" pitchFamily="34" charset="-122"/>
                <a:cs typeface="Calibri" pitchFamily="34" charset="-120"/>
              </a:rPr>
              <a:t>3 / 10</a:t>
            </a:r>
            <a:endParaRPr lang="en-US" sz="1000" dirty="0"/>
          </a:p>
        </p:txBody>
      </p:sp>
      <p:sp>
        <p:nvSpPr>
          <p:cNvPr id="4" name="Shape 2"/>
          <p:cNvSpPr/>
          <p:nvPr/>
        </p:nvSpPr>
        <p:spPr>
          <a:xfrm>
            <a:off x="0" y="6803136"/>
            <a:ext cx="1828800" cy="54864"/>
          </a:xfrm>
          <a:prstGeom prst="rect">
            <a:avLst/>
          </a:prstGeom>
          <a:solidFill>
            <a:srgbClr val="64FFDA"/>
          </a:solidFill>
          <a:ln/>
        </p:spPr>
      </p:sp>
      <p:sp>
        <p:nvSpPr>
          <p:cNvPr id="6" name="Text 3"/>
          <p:cNvSpPr/>
          <p:nvPr/>
        </p:nvSpPr>
        <p:spPr>
          <a:xfrm>
            <a:off x="914400" y="1097280"/>
            <a:ext cx="5180076" cy="548640"/>
          </a:xfrm>
          <a:prstGeom prst="rect">
            <a:avLst/>
          </a:prstGeom>
          <a:noFill/>
          <a:ln/>
        </p:spPr>
        <p:txBody>
          <a:bodyPr wrap="square" rtlCol="0" anchor="ctr"/>
          <a:lstStyle/>
          <a:p>
            <a:pPr marL="0" indent="0" algn="l">
              <a:buNone/>
            </a:pPr>
            <a:r>
              <a:rPr lang="en-US" sz="1800" dirty="0">
                <a:solidFill>
                  <a:srgbClr val="8892B0"/>
                </a:solidFill>
                <a:latin typeface="Calibri" pitchFamily="34" charset="0"/>
                <a:ea typeface="Calibri" pitchFamily="34" charset="-122"/>
                <a:cs typeface="Calibri" pitchFamily="34" charset="-120"/>
              </a:rPr>
              <a:t>Dataset Scope</a:t>
            </a:r>
            <a:endParaRPr lang="en-US" sz="1800" dirty="0"/>
          </a:p>
        </p:txBody>
      </p:sp>
      <p:sp>
        <p:nvSpPr>
          <p:cNvPr id="7" name="Text 4"/>
          <p:cNvSpPr/>
          <p:nvPr/>
        </p:nvSpPr>
        <p:spPr>
          <a:xfrm>
            <a:off x="914400" y="1828800"/>
            <a:ext cx="5180076" cy="1828800"/>
          </a:xfrm>
          <a:prstGeom prst="rect">
            <a:avLst/>
          </a:prstGeom>
          <a:noFill/>
          <a:ln/>
          <a:effectLst>
            <a:outerShdw blurRad="101600" dist="25400" dir="16200000" algn="bl" rotWithShape="0">
              <a:srgbClr val="000000">
                <a:alpha val="15000"/>
              </a:srgbClr>
            </a:outerShdw>
          </a:effectLst>
        </p:spPr>
        <p:txBody>
          <a:bodyPr wrap="square" rtlCol="0" anchor="ctr"/>
          <a:lstStyle/>
          <a:p>
            <a:pPr marL="0" indent="0" algn="l">
              <a:buNone/>
            </a:pPr>
            <a:r>
              <a:rPr lang="en-US" sz="6000" b="1" dirty="0">
                <a:solidFill>
                  <a:srgbClr val="64FFDA"/>
                </a:solidFill>
                <a:latin typeface="Calibri" pitchFamily="34" charset="0"/>
                <a:ea typeface="Calibri" pitchFamily="34" charset="-122"/>
                <a:cs typeface="Calibri" pitchFamily="34" charset="-120"/>
              </a:rPr>
              <a:t>8,807</a:t>
            </a:r>
            <a:endParaRPr lang="en-US" sz="6000" dirty="0"/>
          </a:p>
        </p:txBody>
      </p:sp>
      <p:sp>
        <p:nvSpPr>
          <p:cNvPr id="8" name="Text 5"/>
          <p:cNvSpPr/>
          <p:nvPr/>
        </p:nvSpPr>
        <p:spPr>
          <a:xfrm>
            <a:off x="914400" y="3657600"/>
            <a:ext cx="5180076" cy="548640"/>
          </a:xfrm>
          <a:prstGeom prst="rect">
            <a:avLst/>
          </a:prstGeom>
          <a:noFill/>
          <a:ln/>
        </p:spPr>
        <p:txBody>
          <a:bodyPr wrap="square" rtlCol="0" anchor="ctr"/>
          <a:lstStyle/>
          <a:p>
            <a:pPr marL="0" indent="0" algn="l">
              <a:buNone/>
            </a:pPr>
            <a:r>
              <a:rPr lang="en-US" sz="1800" dirty="0">
                <a:solidFill>
                  <a:srgbClr val="8892B0"/>
                </a:solidFill>
                <a:latin typeface="Calibri" pitchFamily="34" charset="0"/>
                <a:ea typeface="Calibri" pitchFamily="34" charset="-122"/>
                <a:cs typeface="Calibri" pitchFamily="34" charset="-120"/>
              </a:rPr>
              <a:t>Netflix titles analyzed</a:t>
            </a:r>
            <a:endParaRPr lang="en-US" sz="1800" dirty="0"/>
          </a:p>
        </p:txBody>
      </p:sp>
      <p:sp>
        <p:nvSpPr>
          <p:cNvPr id="9" name="Shape 6"/>
          <p:cNvSpPr/>
          <p:nvPr/>
        </p:nvSpPr>
        <p:spPr>
          <a:xfrm>
            <a:off x="6231636" y="1371600"/>
            <a:ext cx="18288" cy="3657600"/>
          </a:xfrm>
          <a:prstGeom prst="rect">
            <a:avLst/>
          </a:prstGeom>
          <a:solidFill>
            <a:srgbClr val="64FFDA">
              <a:alpha val="30000"/>
            </a:srgbClr>
          </a:solidFill>
          <a:ln/>
        </p:spPr>
      </p:sp>
      <p:sp>
        <p:nvSpPr>
          <p:cNvPr id="10" name="Text 7"/>
          <p:cNvSpPr/>
          <p:nvPr/>
        </p:nvSpPr>
        <p:spPr>
          <a:xfrm>
            <a:off x="6551676" y="1828800"/>
            <a:ext cx="5180076" cy="3200400"/>
          </a:xfrm>
          <a:prstGeom prst="rect">
            <a:avLst/>
          </a:prstGeom>
          <a:noFill/>
          <a:ln/>
        </p:spPr>
        <p:txBody>
          <a:bodyPr wrap="square" rtlCol="0" anchor="ctr"/>
          <a:lstStyle/>
          <a:p>
            <a:pPr marL="342900" indent="-342900">
              <a:lnSpc>
                <a:spcPct val="120000"/>
              </a:lnSpc>
              <a:spcAft>
                <a:spcPts val="1000"/>
              </a:spcAft>
              <a:buSzPct val="100000"/>
              <a:buChar char="•"/>
            </a:pPr>
            <a:r>
              <a:rPr lang="en-US" sz="1600" b="1" dirty="0">
                <a:solidFill>
                  <a:srgbClr val="A8B2D1"/>
                </a:solidFill>
                <a:latin typeface="Calibri" pitchFamily="34" charset="0"/>
                <a:ea typeface="Calibri" pitchFamily="34" charset="-122"/>
                <a:cs typeface="Calibri" pitchFamily="34" charset="-120"/>
              </a:rPr>
              <a:t>6,131 movies</a:t>
            </a:r>
            <a:r>
              <a:rPr lang="en-US" sz="1600" dirty="0">
                <a:solidFill>
                  <a:srgbClr val="A8B2D1"/>
                </a:solidFill>
                <a:latin typeface="Calibri" pitchFamily="34" charset="0"/>
                <a:ea typeface="Calibri" pitchFamily="34" charset="-122"/>
                <a:cs typeface="Calibri" pitchFamily="34" charset="-120"/>
              </a:rPr>
              <a:t> were included</a:t>
            </a:r>
            <a:endParaRPr lang="en-US" sz="1600" dirty="0"/>
          </a:p>
          <a:p>
            <a:pPr marL="342900" indent="-342900">
              <a:lnSpc>
                <a:spcPct val="120000"/>
              </a:lnSpc>
              <a:spcAft>
                <a:spcPts val="1000"/>
              </a:spcAft>
              <a:buSzPct val="100000"/>
              <a:buChar char="•"/>
            </a:pPr>
            <a:r>
              <a:rPr lang="en-US" sz="1600" b="1" dirty="0">
                <a:solidFill>
                  <a:srgbClr val="A8B2D1"/>
                </a:solidFill>
                <a:latin typeface="Calibri" pitchFamily="34" charset="0"/>
                <a:ea typeface="Calibri" pitchFamily="34" charset="-122"/>
                <a:cs typeface="Calibri" pitchFamily="34" charset="-120"/>
              </a:rPr>
              <a:t>2,676 TV shows</a:t>
            </a:r>
            <a:r>
              <a:rPr lang="en-US" sz="1600" dirty="0">
                <a:solidFill>
                  <a:srgbClr val="A8B2D1"/>
                </a:solidFill>
                <a:latin typeface="Calibri" pitchFamily="34" charset="0"/>
                <a:ea typeface="Calibri" pitchFamily="34" charset="-122"/>
                <a:cs typeface="Calibri" pitchFamily="34" charset="-120"/>
              </a:rPr>
              <a:t> were included</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92F"/>
        </a:solidFill>
        <a:effectLst/>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64FFDA"/>
          </a:solidFill>
          <a:ln/>
        </p:spPr>
      </p:sp>
      <p:sp>
        <p:nvSpPr>
          <p:cNvPr id="3" name="Text 1"/>
          <p:cNvSpPr/>
          <p:nvPr/>
        </p:nvSpPr>
        <p:spPr>
          <a:xfrm>
            <a:off x="10817352" y="6400800"/>
            <a:ext cx="1097280" cy="320040"/>
          </a:xfrm>
          <a:prstGeom prst="rect">
            <a:avLst/>
          </a:prstGeom>
          <a:noFill/>
          <a:ln/>
        </p:spPr>
        <p:txBody>
          <a:bodyPr wrap="square" rtlCol="0" anchor="ctr"/>
          <a:lstStyle/>
          <a:p>
            <a:pPr marL="0" indent="0" algn="r">
              <a:buNone/>
            </a:pPr>
            <a:r>
              <a:rPr lang="en-US" sz="1000" dirty="0">
                <a:solidFill>
                  <a:srgbClr val="8892B0"/>
                </a:solidFill>
                <a:latin typeface="Calibri" pitchFamily="34" charset="0"/>
                <a:ea typeface="Calibri" pitchFamily="34" charset="-122"/>
                <a:cs typeface="Calibri" pitchFamily="34" charset="-120"/>
              </a:rPr>
              <a:t>4 / 10</a:t>
            </a:r>
            <a:endParaRPr lang="en-US" sz="1000" dirty="0"/>
          </a:p>
        </p:txBody>
      </p:sp>
      <p:sp>
        <p:nvSpPr>
          <p:cNvPr id="4" name="Shape 2"/>
          <p:cNvSpPr/>
          <p:nvPr/>
        </p:nvSpPr>
        <p:spPr>
          <a:xfrm>
            <a:off x="0" y="6803136"/>
            <a:ext cx="1828800" cy="54864"/>
          </a:xfrm>
          <a:prstGeom prst="rect">
            <a:avLst/>
          </a:prstGeom>
          <a:solidFill>
            <a:srgbClr val="64FFDA"/>
          </a:solidFill>
          <a:ln/>
        </p:spPr>
      </p:sp>
      <p:sp>
        <p:nvSpPr>
          <p:cNvPr id="6" name="Text 3"/>
          <p:cNvSpPr/>
          <p:nvPr/>
        </p:nvSpPr>
        <p:spPr>
          <a:xfrm>
            <a:off x="914400" y="457200"/>
            <a:ext cx="10360152" cy="731520"/>
          </a:xfrm>
          <a:prstGeom prst="rect">
            <a:avLst/>
          </a:prstGeom>
          <a:noFill/>
          <a:ln/>
        </p:spPr>
        <p:txBody>
          <a:bodyPr wrap="square" rtlCol="0" anchor="ctr"/>
          <a:lstStyle/>
          <a:p>
            <a:pPr marL="0" indent="0">
              <a:buNone/>
            </a:pPr>
            <a:r>
              <a:rPr lang="en-US" sz="2800" b="1" dirty="0">
                <a:solidFill>
                  <a:srgbClr val="E6F1FF"/>
                </a:solidFill>
                <a:latin typeface="Calibri" pitchFamily="34" charset="0"/>
                <a:ea typeface="Calibri" pitchFamily="34" charset="-122"/>
                <a:cs typeface="Calibri" pitchFamily="34" charset="-120"/>
              </a:rPr>
              <a:t>Catalog Mix: Movies vs. TV Shows</a:t>
            </a:r>
            <a:endParaRPr lang="en-US" sz="2800" dirty="0"/>
          </a:p>
        </p:txBody>
      </p:sp>
      <p:sp>
        <p:nvSpPr>
          <p:cNvPr id="7" name="Text 4"/>
          <p:cNvSpPr/>
          <p:nvPr/>
        </p:nvSpPr>
        <p:spPr>
          <a:xfrm>
            <a:off x="914400" y="1371600"/>
            <a:ext cx="4722876" cy="548640"/>
          </a:xfrm>
          <a:prstGeom prst="rect">
            <a:avLst/>
          </a:prstGeom>
          <a:noFill/>
          <a:ln/>
        </p:spPr>
        <p:txBody>
          <a:bodyPr wrap="square" rtlCol="0" anchor="ctr"/>
          <a:lstStyle/>
          <a:p>
            <a:pPr marL="0" indent="0">
              <a:buNone/>
            </a:pPr>
            <a:r>
              <a:rPr lang="en-US" sz="2000" b="1" dirty="0">
                <a:solidFill>
                  <a:srgbClr val="64FFDA"/>
                </a:solidFill>
                <a:latin typeface="Calibri" pitchFamily="34" charset="0"/>
                <a:ea typeface="Calibri" pitchFamily="34" charset="-122"/>
                <a:cs typeface="Calibri" pitchFamily="34" charset="-120"/>
              </a:rPr>
              <a:t>Movies</a:t>
            </a:r>
            <a:endParaRPr lang="en-US" sz="2000" dirty="0"/>
          </a:p>
        </p:txBody>
      </p:sp>
      <p:sp>
        <p:nvSpPr>
          <p:cNvPr id="8" name="Text 5"/>
          <p:cNvSpPr/>
          <p:nvPr/>
        </p:nvSpPr>
        <p:spPr>
          <a:xfrm>
            <a:off x="914400" y="2011680"/>
            <a:ext cx="4722876" cy="3931920"/>
          </a:xfrm>
          <a:prstGeom prst="rect">
            <a:avLst/>
          </a:prstGeom>
          <a:noFill/>
          <a:ln/>
        </p:spPr>
        <p:txBody>
          <a:bodyPr wrap="square" rtlCol="0" anchor="t"/>
          <a:lstStyle/>
          <a:p>
            <a:pPr marL="342900" indent="-342900">
              <a:lnSpc>
                <a:spcPct val="120000"/>
              </a:lnSpc>
              <a:spcAft>
                <a:spcPts val="800"/>
              </a:spcAft>
              <a:buSzPct val="100000"/>
              <a:buChar char="•"/>
            </a:pPr>
            <a:r>
              <a:rPr lang="en-US" sz="1400" b="1" dirty="0">
                <a:solidFill>
                  <a:srgbClr val="A8B2D1"/>
                </a:solidFill>
                <a:latin typeface="Calibri" pitchFamily="34" charset="0"/>
                <a:ea typeface="Calibri" pitchFamily="34" charset="-122"/>
                <a:cs typeface="Calibri" pitchFamily="34" charset="-120"/>
              </a:rPr>
              <a:t>6,131 titles</a:t>
            </a:r>
            <a:r>
              <a:rPr lang="en-US" sz="1400" dirty="0">
                <a:solidFill>
                  <a:srgbClr val="A8B2D1"/>
                </a:solidFill>
                <a:latin typeface="Calibri" pitchFamily="34" charset="0"/>
                <a:ea typeface="Calibri" pitchFamily="34" charset="-122"/>
                <a:cs typeface="Calibri" pitchFamily="34" charset="-120"/>
              </a:rPr>
              <a:t> in the catalog</a:t>
            </a:r>
            <a:endParaRPr lang="en-US" sz="1400" dirty="0"/>
          </a:p>
          <a:p>
            <a:pPr marL="342900" indent="-342900">
              <a:lnSpc>
                <a:spcPct val="120000"/>
              </a:lnSpc>
              <a:spcAft>
                <a:spcPts val="800"/>
              </a:spcAft>
              <a:buSzPct val="100000"/>
              <a:buChar char="•"/>
            </a:pPr>
            <a:r>
              <a:rPr lang="en-US" sz="1400" b="1" dirty="0">
                <a:solidFill>
                  <a:srgbClr val="A8B2D1"/>
                </a:solidFill>
                <a:latin typeface="Calibri" pitchFamily="34" charset="0"/>
                <a:ea typeface="Calibri" pitchFamily="34" charset="-122"/>
                <a:cs typeface="Calibri" pitchFamily="34" charset="-120"/>
              </a:rPr>
              <a:t>Largest share</a:t>
            </a:r>
            <a:r>
              <a:rPr lang="en-US" sz="1400" dirty="0">
                <a:solidFill>
                  <a:srgbClr val="A8B2D1"/>
                </a:solidFill>
                <a:latin typeface="Calibri" pitchFamily="34" charset="0"/>
                <a:ea typeface="Calibri" pitchFamily="34" charset="-122"/>
                <a:cs typeface="Calibri" pitchFamily="34" charset="-120"/>
              </a:rPr>
              <a:t> of Netflix content</a:t>
            </a:r>
            <a:endParaRPr lang="en-US" sz="1400" dirty="0"/>
          </a:p>
        </p:txBody>
      </p:sp>
      <p:sp>
        <p:nvSpPr>
          <p:cNvPr id="9" name="Shape 6"/>
          <p:cNvSpPr/>
          <p:nvPr/>
        </p:nvSpPr>
        <p:spPr>
          <a:xfrm>
            <a:off x="5865876" y="1371600"/>
            <a:ext cx="18288" cy="4572000"/>
          </a:xfrm>
          <a:prstGeom prst="rect">
            <a:avLst/>
          </a:prstGeom>
          <a:solidFill>
            <a:srgbClr val="64FFDA">
              <a:alpha val="40000"/>
            </a:srgbClr>
          </a:solidFill>
          <a:ln/>
        </p:spPr>
      </p:sp>
      <p:sp>
        <p:nvSpPr>
          <p:cNvPr id="10" name="Text 7"/>
          <p:cNvSpPr/>
          <p:nvPr/>
        </p:nvSpPr>
        <p:spPr>
          <a:xfrm>
            <a:off x="6323076" y="1371600"/>
            <a:ext cx="4722876" cy="548640"/>
          </a:xfrm>
          <a:prstGeom prst="rect">
            <a:avLst/>
          </a:prstGeom>
          <a:noFill/>
          <a:ln/>
        </p:spPr>
        <p:txBody>
          <a:bodyPr wrap="square" rtlCol="0" anchor="ctr"/>
          <a:lstStyle/>
          <a:p>
            <a:pPr marL="0" indent="0">
              <a:buNone/>
            </a:pPr>
            <a:r>
              <a:rPr lang="en-US" sz="2000" b="1" dirty="0">
                <a:solidFill>
                  <a:srgbClr val="64FFDA"/>
                </a:solidFill>
                <a:latin typeface="Calibri" pitchFamily="34" charset="0"/>
                <a:ea typeface="Calibri" pitchFamily="34" charset="-122"/>
                <a:cs typeface="Calibri" pitchFamily="34" charset="-120"/>
              </a:rPr>
              <a:t>TV Shows</a:t>
            </a:r>
            <a:endParaRPr lang="en-US" sz="2000" dirty="0"/>
          </a:p>
        </p:txBody>
      </p:sp>
      <p:sp>
        <p:nvSpPr>
          <p:cNvPr id="11" name="Text 8"/>
          <p:cNvSpPr/>
          <p:nvPr/>
        </p:nvSpPr>
        <p:spPr>
          <a:xfrm>
            <a:off x="6323076" y="2011680"/>
            <a:ext cx="4722876" cy="3931920"/>
          </a:xfrm>
          <a:prstGeom prst="rect">
            <a:avLst/>
          </a:prstGeom>
          <a:noFill/>
          <a:ln/>
        </p:spPr>
        <p:txBody>
          <a:bodyPr wrap="square" rtlCol="0" anchor="t"/>
          <a:lstStyle/>
          <a:p>
            <a:pPr marL="342900" indent="-342900">
              <a:lnSpc>
                <a:spcPct val="120000"/>
              </a:lnSpc>
              <a:spcAft>
                <a:spcPts val="800"/>
              </a:spcAft>
              <a:buSzPct val="100000"/>
              <a:buChar char="•"/>
            </a:pPr>
            <a:r>
              <a:rPr lang="en-US" sz="1400" b="1" dirty="0">
                <a:solidFill>
                  <a:srgbClr val="A8B2D1"/>
                </a:solidFill>
                <a:latin typeface="Calibri" pitchFamily="34" charset="0"/>
                <a:ea typeface="Calibri" pitchFamily="34" charset="-122"/>
                <a:cs typeface="Calibri" pitchFamily="34" charset="-120"/>
              </a:rPr>
              <a:t>2,676 titles</a:t>
            </a:r>
            <a:r>
              <a:rPr lang="en-US" sz="1400" dirty="0">
                <a:solidFill>
                  <a:srgbClr val="A8B2D1"/>
                </a:solidFill>
                <a:latin typeface="Calibri" pitchFamily="34" charset="0"/>
                <a:ea typeface="Calibri" pitchFamily="34" charset="-122"/>
                <a:cs typeface="Calibri" pitchFamily="34" charset="-120"/>
              </a:rPr>
              <a:t> in the catalog</a:t>
            </a:r>
            <a:endParaRPr lang="en-US" sz="1400" dirty="0"/>
          </a:p>
          <a:p>
            <a:pPr marL="342900" indent="-342900">
              <a:lnSpc>
                <a:spcPct val="120000"/>
              </a:lnSpc>
              <a:spcAft>
                <a:spcPts val="800"/>
              </a:spcAft>
              <a:buSzPct val="100000"/>
              <a:buChar char="•"/>
            </a:pPr>
            <a:r>
              <a:rPr lang="en-US" sz="1400" b="1" dirty="0">
                <a:solidFill>
                  <a:srgbClr val="A8B2D1"/>
                </a:solidFill>
                <a:latin typeface="Calibri" pitchFamily="34" charset="0"/>
                <a:ea typeface="Calibri" pitchFamily="34" charset="-122"/>
                <a:cs typeface="Calibri" pitchFamily="34" charset="-120"/>
              </a:rPr>
              <a:t>Newer on average</a:t>
            </a:r>
            <a:r>
              <a:rPr lang="en-US" sz="1400" dirty="0">
                <a:solidFill>
                  <a:srgbClr val="A8B2D1"/>
                </a:solidFill>
                <a:latin typeface="Calibri" pitchFamily="34" charset="0"/>
                <a:ea typeface="Calibri" pitchFamily="34" charset="-122"/>
                <a:cs typeface="Calibri" pitchFamily="34" charset="-120"/>
              </a:rPr>
              <a:t> than movies</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92F"/>
        </a:solidFill>
        <a:effectLst/>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64FFDA"/>
          </a:solidFill>
          <a:ln/>
        </p:spPr>
      </p:sp>
      <p:sp>
        <p:nvSpPr>
          <p:cNvPr id="3" name="Text 1"/>
          <p:cNvSpPr/>
          <p:nvPr/>
        </p:nvSpPr>
        <p:spPr>
          <a:xfrm>
            <a:off x="10817352" y="6400800"/>
            <a:ext cx="1097280" cy="320040"/>
          </a:xfrm>
          <a:prstGeom prst="rect">
            <a:avLst/>
          </a:prstGeom>
          <a:noFill/>
          <a:ln/>
        </p:spPr>
        <p:txBody>
          <a:bodyPr wrap="square" rtlCol="0" anchor="ctr"/>
          <a:lstStyle/>
          <a:p>
            <a:pPr marL="0" indent="0" algn="r">
              <a:buNone/>
            </a:pPr>
            <a:r>
              <a:rPr lang="en-US" sz="1000" dirty="0">
                <a:solidFill>
                  <a:srgbClr val="8892B0"/>
                </a:solidFill>
                <a:latin typeface="Calibri" pitchFamily="34" charset="0"/>
                <a:ea typeface="Calibri" pitchFamily="34" charset="-122"/>
                <a:cs typeface="Calibri" pitchFamily="34" charset="-120"/>
              </a:rPr>
              <a:t>5 / 10</a:t>
            </a:r>
            <a:endParaRPr lang="en-US" sz="1000" dirty="0"/>
          </a:p>
        </p:txBody>
      </p:sp>
      <p:sp>
        <p:nvSpPr>
          <p:cNvPr id="4" name="Shape 2"/>
          <p:cNvSpPr/>
          <p:nvPr/>
        </p:nvSpPr>
        <p:spPr>
          <a:xfrm>
            <a:off x="0" y="6803136"/>
            <a:ext cx="1828800" cy="54864"/>
          </a:xfrm>
          <a:prstGeom prst="rect">
            <a:avLst/>
          </a:prstGeom>
          <a:solidFill>
            <a:srgbClr val="64FFDA"/>
          </a:solidFill>
          <a:ln/>
        </p:spPr>
      </p:sp>
      <p:sp>
        <p:nvSpPr>
          <p:cNvPr id="6" name="Text 3"/>
          <p:cNvSpPr/>
          <p:nvPr/>
        </p:nvSpPr>
        <p:spPr>
          <a:xfrm>
            <a:off x="914400" y="457200"/>
            <a:ext cx="10360152" cy="640080"/>
          </a:xfrm>
          <a:prstGeom prst="rect">
            <a:avLst/>
          </a:prstGeom>
          <a:noFill/>
          <a:ln/>
        </p:spPr>
        <p:txBody>
          <a:bodyPr wrap="square" rtlCol="0" anchor="ctr"/>
          <a:lstStyle/>
          <a:p>
            <a:pPr marL="0" indent="0">
              <a:buNone/>
            </a:pPr>
            <a:r>
              <a:rPr lang="en-US" sz="2400" b="1" dirty="0">
                <a:solidFill>
                  <a:srgbClr val="E6F1FF"/>
                </a:solidFill>
                <a:latin typeface="Calibri" pitchFamily="34" charset="0"/>
                <a:ea typeface="Calibri" pitchFamily="34" charset="-122"/>
                <a:cs typeface="Calibri" pitchFamily="34" charset="-120"/>
              </a:rPr>
              <a:t>Content Type Distribution</a:t>
            </a:r>
            <a:endParaRPr lang="en-US" sz="2400" dirty="0"/>
          </a:p>
        </p:txBody>
      </p:sp>
      <p:pic>
        <p:nvPicPr>
          <p:cNvPr id="7" name="Image 0" descr="preencoded.png"/>
          <p:cNvPicPr>
            <a:picLocks noChangeAspect="1"/>
          </p:cNvPicPr>
          <p:nvPr/>
        </p:nvPicPr>
        <p:blipFill>
          <a:blip r:embed="rId3"/>
          <a:stretch>
            <a:fillRect/>
          </a:stretch>
        </p:blipFill>
        <p:spPr>
          <a:xfrm>
            <a:off x="3398249" y="1280160"/>
            <a:ext cx="5392455" cy="3200400"/>
          </a:xfrm>
          <a:prstGeom prst="rect">
            <a:avLst/>
          </a:prstGeom>
        </p:spPr>
      </p:pic>
      <p:sp>
        <p:nvSpPr>
          <p:cNvPr id="8" name="Text 4"/>
          <p:cNvSpPr/>
          <p:nvPr/>
        </p:nvSpPr>
        <p:spPr>
          <a:xfrm>
            <a:off x="914400" y="4617720"/>
            <a:ext cx="10360152" cy="1783080"/>
          </a:xfrm>
          <a:prstGeom prst="rect">
            <a:avLst/>
          </a:prstGeom>
          <a:noFill/>
          <a:ln/>
        </p:spPr>
        <p:txBody>
          <a:bodyPr wrap="square" rtlCol="0" anchor="t"/>
          <a:lstStyle/>
          <a:p>
            <a:pPr marL="342900" indent="-342900">
              <a:lnSpc>
                <a:spcPct val="115000"/>
              </a:lnSpc>
              <a:spcAft>
                <a:spcPts val="400"/>
              </a:spcAft>
              <a:buSzPct val="100000"/>
              <a:buChar char="•"/>
            </a:pPr>
            <a:r>
              <a:rPr lang="en-US" sz="1300" b="1" dirty="0">
                <a:solidFill>
                  <a:srgbClr val="A8B2D1"/>
                </a:solidFill>
                <a:latin typeface="Calibri" pitchFamily="34" charset="0"/>
                <a:ea typeface="Calibri" pitchFamily="34" charset="-122"/>
                <a:cs typeface="Calibri" pitchFamily="34" charset="-120"/>
              </a:rPr>
              <a:t>Movies dominate</a:t>
            </a:r>
            <a:r>
              <a:rPr lang="en-US" sz="1300" dirty="0">
                <a:solidFill>
                  <a:srgbClr val="A8B2D1"/>
                </a:solidFill>
                <a:latin typeface="Calibri" pitchFamily="34" charset="0"/>
                <a:ea typeface="Calibri" pitchFamily="34" charset="-122"/>
                <a:cs typeface="Calibri" pitchFamily="34" charset="-120"/>
              </a:rPr>
              <a:t> the overall content mix</a:t>
            </a:r>
            <a:endParaRPr lang="en-US" sz="1300" dirty="0"/>
          </a:p>
          <a:p>
            <a:pPr marL="342900" indent="-342900">
              <a:lnSpc>
                <a:spcPct val="115000"/>
              </a:lnSpc>
              <a:spcAft>
                <a:spcPts val="400"/>
              </a:spcAft>
              <a:buSzPct val="100000"/>
              <a:buChar char="•"/>
            </a:pPr>
            <a:r>
              <a:rPr lang="en-US" sz="1300" b="1" dirty="0">
                <a:solidFill>
                  <a:srgbClr val="A8B2D1"/>
                </a:solidFill>
                <a:latin typeface="Calibri" pitchFamily="34" charset="0"/>
                <a:ea typeface="Calibri" pitchFamily="34" charset="-122"/>
                <a:cs typeface="Calibri" pitchFamily="34" charset="-120"/>
              </a:rPr>
              <a:t>TV shows</a:t>
            </a:r>
            <a:r>
              <a:rPr lang="en-US" sz="1300" dirty="0">
                <a:solidFill>
                  <a:srgbClr val="A8B2D1"/>
                </a:solidFill>
                <a:latin typeface="Calibri" pitchFamily="34" charset="0"/>
                <a:ea typeface="Calibri" pitchFamily="34" charset="-122"/>
                <a:cs typeface="Calibri" pitchFamily="34" charset="-120"/>
              </a:rPr>
              <a:t> account for a smaller share</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92F"/>
        </a:solidFill>
        <a:effectLst/>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64FFDA"/>
          </a:solidFill>
          <a:ln/>
        </p:spPr>
      </p:sp>
      <p:sp>
        <p:nvSpPr>
          <p:cNvPr id="3" name="Text 1"/>
          <p:cNvSpPr/>
          <p:nvPr/>
        </p:nvSpPr>
        <p:spPr>
          <a:xfrm>
            <a:off x="10817352" y="6400800"/>
            <a:ext cx="1097280" cy="320040"/>
          </a:xfrm>
          <a:prstGeom prst="rect">
            <a:avLst/>
          </a:prstGeom>
          <a:noFill/>
          <a:ln/>
        </p:spPr>
        <p:txBody>
          <a:bodyPr wrap="square" rtlCol="0" anchor="ctr"/>
          <a:lstStyle/>
          <a:p>
            <a:pPr marL="0" indent="0" algn="r">
              <a:buNone/>
            </a:pPr>
            <a:r>
              <a:rPr lang="en-US" sz="1000" dirty="0">
                <a:solidFill>
                  <a:srgbClr val="8892B0"/>
                </a:solidFill>
                <a:latin typeface="Calibri" pitchFamily="34" charset="0"/>
                <a:ea typeface="Calibri" pitchFamily="34" charset="-122"/>
                <a:cs typeface="Calibri" pitchFamily="34" charset="-120"/>
              </a:rPr>
              <a:t>6 / 10</a:t>
            </a:r>
            <a:endParaRPr lang="en-US" sz="1000" dirty="0"/>
          </a:p>
        </p:txBody>
      </p:sp>
      <p:sp>
        <p:nvSpPr>
          <p:cNvPr id="4" name="Shape 2"/>
          <p:cNvSpPr/>
          <p:nvPr/>
        </p:nvSpPr>
        <p:spPr>
          <a:xfrm>
            <a:off x="0" y="6803136"/>
            <a:ext cx="1828800" cy="54864"/>
          </a:xfrm>
          <a:prstGeom prst="rect">
            <a:avLst/>
          </a:prstGeom>
          <a:solidFill>
            <a:srgbClr val="64FFDA"/>
          </a:solidFill>
          <a:ln/>
        </p:spPr>
      </p:sp>
      <p:sp>
        <p:nvSpPr>
          <p:cNvPr id="6" name="Text 3"/>
          <p:cNvSpPr/>
          <p:nvPr/>
        </p:nvSpPr>
        <p:spPr>
          <a:xfrm>
            <a:off x="914400" y="457200"/>
            <a:ext cx="10360152" cy="640080"/>
          </a:xfrm>
          <a:prstGeom prst="rect">
            <a:avLst/>
          </a:prstGeom>
          <a:noFill/>
          <a:ln/>
        </p:spPr>
        <p:txBody>
          <a:bodyPr wrap="square" rtlCol="0" anchor="ctr"/>
          <a:lstStyle/>
          <a:p>
            <a:pPr marL="0" indent="0">
              <a:buNone/>
            </a:pPr>
            <a:r>
              <a:rPr lang="en-US" sz="2400" b="1" dirty="0">
                <a:solidFill>
                  <a:srgbClr val="E6F1FF"/>
                </a:solidFill>
                <a:latin typeface="Calibri" pitchFamily="34" charset="0"/>
                <a:ea typeface="Calibri" pitchFamily="34" charset="-122"/>
                <a:cs typeface="Calibri" pitchFamily="34" charset="-120"/>
              </a:rPr>
              <a:t>Titles Added to Netflix by Year</a:t>
            </a:r>
            <a:endParaRPr lang="en-US" sz="2400" dirty="0"/>
          </a:p>
        </p:txBody>
      </p:sp>
      <p:pic>
        <p:nvPicPr>
          <p:cNvPr id="7" name="Image 0" descr="preencoded.png"/>
          <p:cNvPicPr>
            <a:picLocks noChangeAspect="1"/>
          </p:cNvPicPr>
          <p:nvPr/>
        </p:nvPicPr>
        <p:blipFill>
          <a:blip r:embed="rId3"/>
          <a:stretch>
            <a:fillRect/>
          </a:stretch>
        </p:blipFill>
        <p:spPr>
          <a:xfrm>
            <a:off x="3398249" y="1280160"/>
            <a:ext cx="5392455" cy="3200400"/>
          </a:xfrm>
          <a:prstGeom prst="rect">
            <a:avLst/>
          </a:prstGeom>
        </p:spPr>
      </p:pic>
      <p:sp>
        <p:nvSpPr>
          <p:cNvPr id="8" name="Text 4"/>
          <p:cNvSpPr/>
          <p:nvPr/>
        </p:nvSpPr>
        <p:spPr>
          <a:xfrm>
            <a:off x="914400" y="4617720"/>
            <a:ext cx="10360152" cy="1783080"/>
          </a:xfrm>
          <a:prstGeom prst="rect">
            <a:avLst/>
          </a:prstGeom>
          <a:noFill/>
          <a:ln/>
        </p:spPr>
        <p:txBody>
          <a:bodyPr wrap="square" rtlCol="0" anchor="t"/>
          <a:lstStyle/>
          <a:p>
            <a:pPr marL="342900" indent="-342900">
              <a:lnSpc>
                <a:spcPct val="115000"/>
              </a:lnSpc>
              <a:spcAft>
                <a:spcPts val="400"/>
              </a:spcAft>
              <a:buSzPct val="100000"/>
              <a:buChar char="•"/>
            </a:pPr>
            <a:r>
              <a:rPr lang="en-US" sz="1300" b="1" dirty="0">
                <a:solidFill>
                  <a:srgbClr val="A8B2D1"/>
                </a:solidFill>
                <a:latin typeface="Calibri" pitchFamily="34" charset="0"/>
                <a:ea typeface="Calibri" pitchFamily="34" charset="-122"/>
                <a:cs typeface="Calibri" pitchFamily="34" charset="-120"/>
              </a:rPr>
              <a:t>2019 and 2020</a:t>
            </a:r>
            <a:r>
              <a:rPr lang="en-US" sz="1300" dirty="0">
                <a:solidFill>
                  <a:srgbClr val="A8B2D1"/>
                </a:solidFill>
                <a:latin typeface="Calibri" pitchFamily="34" charset="0"/>
                <a:ea typeface="Calibri" pitchFamily="34" charset="-122"/>
                <a:cs typeface="Calibri" pitchFamily="34" charset="-120"/>
              </a:rPr>
              <a:t> were peak years for additions</a:t>
            </a:r>
            <a:endParaRPr lang="en-US" sz="1300" dirty="0"/>
          </a:p>
          <a:p>
            <a:pPr marL="342900" indent="-342900">
              <a:lnSpc>
                <a:spcPct val="115000"/>
              </a:lnSpc>
              <a:spcAft>
                <a:spcPts val="400"/>
              </a:spcAft>
              <a:buSzPct val="100000"/>
              <a:buChar char="•"/>
            </a:pPr>
            <a:r>
              <a:rPr lang="en-US" sz="1300" b="1" dirty="0">
                <a:solidFill>
                  <a:srgbClr val="A8B2D1"/>
                </a:solidFill>
                <a:latin typeface="Calibri" pitchFamily="34" charset="0"/>
                <a:ea typeface="Calibri" pitchFamily="34" charset="-122"/>
                <a:cs typeface="Calibri" pitchFamily="34" charset="-120"/>
              </a:rPr>
              <a:t>Yearly additions</a:t>
            </a:r>
            <a:r>
              <a:rPr lang="en-US" sz="1300" dirty="0">
                <a:solidFill>
                  <a:srgbClr val="A8B2D1"/>
                </a:solidFill>
                <a:latin typeface="Calibri" pitchFamily="34" charset="0"/>
                <a:ea typeface="Calibri" pitchFamily="34" charset="-122"/>
                <a:cs typeface="Calibri" pitchFamily="34" charset="-120"/>
              </a:rPr>
              <a:t> rose before reaching that peak</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92F"/>
        </a:solidFill>
        <a:effectLst/>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64FFDA"/>
          </a:solidFill>
          <a:ln/>
        </p:spPr>
      </p:sp>
      <p:sp>
        <p:nvSpPr>
          <p:cNvPr id="3" name="Text 1"/>
          <p:cNvSpPr/>
          <p:nvPr/>
        </p:nvSpPr>
        <p:spPr>
          <a:xfrm>
            <a:off x="10817352" y="6400800"/>
            <a:ext cx="1097280" cy="320040"/>
          </a:xfrm>
          <a:prstGeom prst="rect">
            <a:avLst/>
          </a:prstGeom>
          <a:noFill/>
          <a:ln/>
        </p:spPr>
        <p:txBody>
          <a:bodyPr wrap="square" rtlCol="0" anchor="ctr"/>
          <a:lstStyle/>
          <a:p>
            <a:pPr marL="0" indent="0" algn="r">
              <a:buNone/>
            </a:pPr>
            <a:r>
              <a:rPr lang="en-US" sz="1000" dirty="0">
                <a:solidFill>
                  <a:srgbClr val="8892B0"/>
                </a:solidFill>
                <a:latin typeface="Calibri" pitchFamily="34" charset="0"/>
                <a:ea typeface="Calibri" pitchFamily="34" charset="-122"/>
                <a:cs typeface="Calibri" pitchFamily="34" charset="-120"/>
              </a:rPr>
              <a:t>7 / 10</a:t>
            </a:r>
            <a:endParaRPr lang="en-US" sz="1000" dirty="0"/>
          </a:p>
        </p:txBody>
      </p:sp>
      <p:sp>
        <p:nvSpPr>
          <p:cNvPr id="4" name="Shape 2"/>
          <p:cNvSpPr/>
          <p:nvPr/>
        </p:nvSpPr>
        <p:spPr>
          <a:xfrm>
            <a:off x="0" y="6803136"/>
            <a:ext cx="1828800" cy="54864"/>
          </a:xfrm>
          <a:prstGeom prst="rect">
            <a:avLst/>
          </a:prstGeom>
          <a:solidFill>
            <a:srgbClr val="64FFDA"/>
          </a:solidFill>
          <a:ln/>
        </p:spPr>
      </p:sp>
      <p:sp>
        <p:nvSpPr>
          <p:cNvPr id="6" name="Text 3"/>
          <p:cNvSpPr/>
          <p:nvPr/>
        </p:nvSpPr>
        <p:spPr>
          <a:xfrm>
            <a:off x="914400" y="457200"/>
            <a:ext cx="10360152" cy="640080"/>
          </a:xfrm>
          <a:prstGeom prst="rect">
            <a:avLst/>
          </a:prstGeom>
          <a:noFill/>
          <a:ln/>
        </p:spPr>
        <p:txBody>
          <a:bodyPr wrap="square" rtlCol="0" anchor="ctr"/>
          <a:lstStyle/>
          <a:p>
            <a:pPr marL="0" indent="0">
              <a:buNone/>
            </a:pPr>
            <a:r>
              <a:rPr lang="en-US" sz="2400" b="1" dirty="0">
                <a:solidFill>
                  <a:srgbClr val="E6F1FF"/>
                </a:solidFill>
                <a:latin typeface="Calibri" pitchFamily="34" charset="0"/>
                <a:ea typeface="Calibri" pitchFamily="34" charset="-122"/>
                <a:cs typeface="Calibri" pitchFamily="34" charset="-120"/>
              </a:rPr>
              <a:t>Most Common Ratings</a:t>
            </a:r>
            <a:endParaRPr lang="en-US" sz="2400" dirty="0"/>
          </a:p>
        </p:txBody>
      </p:sp>
      <p:pic>
        <p:nvPicPr>
          <p:cNvPr id="7" name="Image 0" descr="preencoded.png"/>
          <p:cNvPicPr>
            <a:picLocks noChangeAspect="1"/>
          </p:cNvPicPr>
          <p:nvPr/>
        </p:nvPicPr>
        <p:blipFill>
          <a:blip r:embed="rId3"/>
          <a:stretch>
            <a:fillRect/>
          </a:stretch>
        </p:blipFill>
        <p:spPr>
          <a:xfrm>
            <a:off x="3405099" y="1280160"/>
            <a:ext cx="5378754" cy="3200400"/>
          </a:xfrm>
          <a:prstGeom prst="rect">
            <a:avLst/>
          </a:prstGeom>
        </p:spPr>
      </p:pic>
      <p:sp>
        <p:nvSpPr>
          <p:cNvPr id="8" name="Text 4"/>
          <p:cNvSpPr/>
          <p:nvPr/>
        </p:nvSpPr>
        <p:spPr>
          <a:xfrm>
            <a:off x="914400" y="4617720"/>
            <a:ext cx="10360152" cy="1783080"/>
          </a:xfrm>
          <a:prstGeom prst="rect">
            <a:avLst/>
          </a:prstGeom>
          <a:noFill/>
          <a:ln/>
        </p:spPr>
        <p:txBody>
          <a:bodyPr wrap="square" rtlCol="0" anchor="t"/>
          <a:lstStyle/>
          <a:p>
            <a:pPr marL="342900" indent="-342900">
              <a:lnSpc>
                <a:spcPct val="115000"/>
              </a:lnSpc>
              <a:spcAft>
                <a:spcPts val="400"/>
              </a:spcAft>
              <a:buSzPct val="100000"/>
              <a:buChar char="•"/>
            </a:pPr>
            <a:r>
              <a:rPr lang="en-US" sz="1300" b="1" dirty="0">
                <a:solidFill>
                  <a:srgbClr val="A8B2D1"/>
                </a:solidFill>
                <a:latin typeface="Calibri" pitchFamily="34" charset="0"/>
                <a:ea typeface="Calibri" pitchFamily="34" charset="-122"/>
                <a:cs typeface="Calibri" pitchFamily="34" charset="-120"/>
              </a:rPr>
              <a:t>TV-MA</a:t>
            </a:r>
            <a:r>
              <a:rPr lang="en-US" sz="1300" dirty="0">
                <a:solidFill>
                  <a:srgbClr val="A8B2D1"/>
                </a:solidFill>
                <a:latin typeface="Calibri" pitchFamily="34" charset="0"/>
                <a:ea typeface="Calibri" pitchFamily="34" charset="-122"/>
                <a:cs typeface="Calibri" pitchFamily="34" charset="-120"/>
              </a:rPr>
              <a:t> appears most frequently</a:t>
            </a:r>
            <a:endParaRPr lang="en-US" sz="1300" dirty="0"/>
          </a:p>
          <a:p>
            <a:pPr marL="342900" indent="-342900">
              <a:lnSpc>
                <a:spcPct val="115000"/>
              </a:lnSpc>
              <a:spcAft>
                <a:spcPts val="400"/>
              </a:spcAft>
              <a:buSzPct val="100000"/>
              <a:buChar char="•"/>
            </a:pPr>
            <a:r>
              <a:rPr lang="en-US" sz="1300" b="1" dirty="0">
                <a:solidFill>
                  <a:srgbClr val="A8B2D1"/>
                </a:solidFill>
                <a:latin typeface="Calibri" pitchFamily="34" charset="0"/>
                <a:ea typeface="Calibri" pitchFamily="34" charset="-122"/>
                <a:cs typeface="Calibri" pitchFamily="34" charset="-120"/>
              </a:rPr>
              <a:t>TV-14</a:t>
            </a:r>
            <a:r>
              <a:rPr lang="en-US" sz="1300" dirty="0">
                <a:solidFill>
                  <a:srgbClr val="A8B2D1"/>
                </a:solidFill>
                <a:latin typeface="Calibri" pitchFamily="34" charset="0"/>
                <a:ea typeface="Calibri" pitchFamily="34" charset="-122"/>
                <a:cs typeface="Calibri" pitchFamily="34" charset="-120"/>
              </a:rPr>
              <a:t> is also highly represented</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92F"/>
        </a:solidFill>
        <a:effectLst/>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64FFDA"/>
          </a:solidFill>
          <a:ln/>
        </p:spPr>
      </p:sp>
      <p:sp>
        <p:nvSpPr>
          <p:cNvPr id="3" name="Text 1"/>
          <p:cNvSpPr/>
          <p:nvPr/>
        </p:nvSpPr>
        <p:spPr>
          <a:xfrm>
            <a:off x="10817352" y="6400800"/>
            <a:ext cx="1097280" cy="320040"/>
          </a:xfrm>
          <a:prstGeom prst="rect">
            <a:avLst/>
          </a:prstGeom>
          <a:noFill/>
          <a:ln/>
        </p:spPr>
        <p:txBody>
          <a:bodyPr wrap="square" rtlCol="0" anchor="ctr"/>
          <a:lstStyle/>
          <a:p>
            <a:pPr marL="0" indent="0" algn="r">
              <a:buNone/>
            </a:pPr>
            <a:r>
              <a:rPr lang="en-US" sz="1000" dirty="0">
                <a:solidFill>
                  <a:srgbClr val="8892B0"/>
                </a:solidFill>
                <a:latin typeface="Calibri" pitchFamily="34" charset="0"/>
                <a:ea typeface="Calibri" pitchFamily="34" charset="-122"/>
                <a:cs typeface="Calibri" pitchFamily="34" charset="-120"/>
              </a:rPr>
              <a:t>8 / 10</a:t>
            </a:r>
            <a:endParaRPr lang="en-US" sz="1000" dirty="0"/>
          </a:p>
        </p:txBody>
      </p:sp>
      <p:sp>
        <p:nvSpPr>
          <p:cNvPr id="4" name="Shape 2"/>
          <p:cNvSpPr/>
          <p:nvPr/>
        </p:nvSpPr>
        <p:spPr>
          <a:xfrm>
            <a:off x="0" y="6803136"/>
            <a:ext cx="1828800" cy="54864"/>
          </a:xfrm>
          <a:prstGeom prst="rect">
            <a:avLst/>
          </a:prstGeom>
          <a:solidFill>
            <a:srgbClr val="64FFDA"/>
          </a:solidFill>
          <a:ln/>
        </p:spPr>
      </p:sp>
      <p:sp>
        <p:nvSpPr>
          <p:cNvPr id="6" name="Text 3"/>
          <p:cNvSpPr/>
          <p:nvPr/>
        </p:nvSpPr>
        <p:spPr>
          <a:xfrm>
            <a:off x="914400" y="457200"/>
            <a:ext cx="10360152" cy="640080"/>
          </a:xfrm>
          <a:prstGeom prst="rect">
            <a:avLst/>
          </a:prstGeom>
          <a:noFill/>
          <a:ln/>
        </p:spPr>
        <p:txBody>
          <a:bodyPr wrap="square" rtlCol="0" anchor="ctr"/>
          <a:lstStyle/>
          <a:p>
            <a:pPr marL="0" indent="0">
              <a:buNone/>
            </a:pPr>
            <a:r>
              <a:rPr lang="en-US" sz="2400" b="1" dirty="0">
                <a:solidFill>
                  <a:srgbClr val="E6F1FF"/>
                </a:solidFill>
                <a:latin typeface="Calibri" pitchFamily="34" charset="0"/>
                <a:ea typeface="Calibri" pitchFamily="34" charset="-122"/>
                <a:cs typeface="Calibri" pitchFamily="34" charset="-120"/>
              </a:rPr>
              <a:t>Most Common Genres</a:t>
            </a:r>
            <a:endParaRPr lang="en-US" sz="2400" dirty="0"/>
          </a:p>
        </p:txBody>
      </p:sp>
      <p:pic>
        <p:nvPicPr>
          <p:cNvPr id="7" name="Image 0" descr="preencoded.png"/>
          <p:cNvPicPr>
            <a:picLocks noChangeAspect="1"/>
          </p:cNvPicPr>
          <p:nvPr/>
        </p:nvPicPr>
        <p:blipFill>
          <a:blip r:embed="rId3"/>
          <a:stretch>
            <a:fillRect/>
          </a:stretch>
        </p:blipFill>
        <p:spPr>
          <a:xfrm>
            <a:off x="3394139" y="1280160"/>
            <a:ext cx="5400675" cy="3200400"/>
          </a:xfrm>
          <a:prstGeom prst="rect">
            <a:avLst/>
          </a:prstGeom>
        </p:spPr>
      </p:pic>
      <p:sp>
        <p:nvSpPr>
          <p:cNvPr id="8" name="Text 4"/>
          <p:cNvSpPr/>
          <p:nvPr/>
        </p:nvSpPr>
        <p:spPr>
          <a:xfrm>
            <a:off x="914400" y="4617720"/>
            <a:ext cx="10360152" cy="1783080"/>
          </a:xfrm>
          <a:prstGeom prst="rect">
            <a:avLst/>
          </a:prstGeom>
          <a:noFill/>
          <a:ln/>
        </p:spPr>
        <p:txBody>
          <a:bodyPr wrap="square" rtlCol="0" anchor="t"/>
          <a:lstStyle/>
          <a:p>
            <a:pPr marL="342900" indent="-342900">
              <a:lnSpc>
                <a:spcPct val="115000"/>
              </a:lnSpc>
              <a:spcAft>
                <a:spcPts val="400"/>
              </a:spcAft>
              <a:buSzPct val="100000"/>
              <a:buChar char="•"/>
            </a:pPr>
            <a:r>
              <a:rPr lang="en-US" sz="1300" b="1" dirty="0">
                <a:solidFill>
                  <a:srgbClr val="A8B2D1"/>
                </a:solidFill>
                <a:latin typeface="Calibri" pitchFamily="34" charset="0"/>
                <a:ea typeface="Calibri" pitchFamily="34" charset="-122"/>
                <a:cs typeface="Calibri" pitchFamily="34" charset="-120"/>
              </a:rPr>
              <a:t>Dramas</a:t>
            </a:r>
            <a:r>
              <a:rPr lang="en-US" sz="1300" dirty="0">
                <a:solidFill>
                  <a:srgbClr val="A8B2D1"/>
                </a:solidFill>
                <a:latin typeface="Calibri" pitchFamily="34" charset="0"/>
                <a:ea typeface="Calibri" pitchFamily="34" charset="-122"/>
                <a:cs typeface="Calibri" pitchFamily="34" charset="-120"/>
              </a:rPr>
              <a:t> lead genre representation</a:t>
            </a:r>
            <a:endParaRPr lang="en-US" sz="1300" dirty="0"/>
          </a:p>
          <a:p>
            <a:pPr marL="342900" indent="-342900">
              <a:lnSpc>
                <a:spcPct val="115000"/>
              </a:lnSpc>
              <a:spcAft>
                <a:spcPts val="400"/>
              </a:spcAft>
              <a:buSzPct val="100000"/>
              <a:buChar char="•"/>
            </a:pPr>
            <a:r>
              <a:rPr lang="en-US" sz="1300" b="1" dirty="0">
                <a:solidFill>
                  <a:srgbClr val="A8B2D1"/>
                </a:solidFill>
                <a:latin typeface="Calibri" pitchFamily="34" charset="0"/>
                <a:ea typeface="Calibri" pitchFamily="34" charset="-122"/>
                <a:cs typeface="Calibri" pitchFamily="34" charset="-120"/>
              </a:rPr>
              <a:t>Comedies</a:t>
            </a:r>
            <a:r>
              <a:rPr lang="en-US" sz="1300" dirty="0">
                <a:solidFill>
                  <a:srgbClr val="A8B2D1"/>
                </a:solidFill>
                <a:latin typeface="Calibri" pitchFamily="34" charset="0"/>
                <a:ea typeface="Calibri" pitchFamily="34" charset="-122"/>
                <a:cs typeface="Calibri" pitchFamily="34" charset="-120"/>
              </a:rPr>
              <a:t> and </a:t>
            </a:r>
            <a:r>
              <a:rPr lang="en-US" sz="1300" b="1" dirty="0">
                <a:solidFill>
                  <a:srgbClr val="A8B2D1"/>
                </a:solidFill>
                <a:latin typeface="Calibri" pitchFamily="34" charset="0"/>
                <a:ea typeface="Calibri" pitchFamily="34" charset="-122"/>
                <a:cs typeface="Calibri" pitchFamily="34" charset="-120"/>
              </a:rPr>
              <a:t>Action &amp; Adventure</a:t>
            </a:r>
            <a:r>
              <a:rPr lang="en-US" sz="1300" dirty="0">
                <a:solidFill>
                  <a:srgbClr val="A8B2D1"/>
                </a:solidFill>
                <a:latin typeface="Calibri" pitchFamily="34" charset="0"/>
                <a:ea typeface="Calibri" pitchFamily="34" charset="-122"/>
                <a:cs typeface="Calibri" pitchFamily="34" charset="-120"/>
              </a:rPr>
              <a:t> are also prominent</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92F"/>
        </a:solidFill>
        <a:effectLst/>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64FFDA"/>
          </a:solidFill>
          <a:ln/>
        </p:spPr>
      </p:sp>
      <p:sp>
        <p:nvSpPr>
          <p:cNvPr id="3" name="Text 1"/>
          <p:cNvSpPr/>
          <p:nvPr/>
        </p:nvSpPr>
        <p:spPr>
          <a:xfrm>
            <a:off x="10817352" y="6400800"/>
            <a:ext cx="1097280" cy="320040"/>
          </a:xfrm>
          <a:prstGeom prst="rect">
            <a:avLst/>
          </a:prstGeom>
          <a:noFill/>
          <a:ln/>
        </p:spPr>
        <p:txBody>
          <a:bodyPr wrap="square" rtlCol="0" anchor="ctr"/>
          <a:lstStyle/>
          <a:p>
            <a:pPr marL="0" indent="0" algn="r">
              <a:buNone/>
            </a:pPr>
            <a:r>
              <a:rPr lang="en-US" sz="1000" dirty="0">
                <a:solidFill>
                  <a:srgbClr val="8892B0"/>
                </a:solidFill>
                <a:latin typeface="Calibri" pitchFamily="34" charset="0"/>
                <a:ea typeface="Calibri" pitchFamily="34" charset="-122"/>
                <a:cs typeface="Calibri" pitchFamily="34" charset="-120"/>
              </a:rPr>
              <a:t>9 / 10</a:t>
            </a:r>
            <a:endParaRPr lang="en-US" sz="1000" dirty="0"/>
          </a:p>
        </p:txBody>
      </p:sp>
      <p:sp>
        <p:nvSpPr>
          <p:cNvPr id="4" name="Shape 2"/>
          <p:cNvSpPr/>
          <p:nvPr/>
        </p:nvSpPr>
        <p:spPr>
          <a:xfrm>
            <a:off x="0" y="6803136"/>
            <a:ext cx="1828800" cy="54864"/>
          </a:xfrm>
          <a:prstGeom prst="rect">
            <a:avLst/>
          </a:prstGeom>
          <a:solidFill>
            <a:srgbClr val="64FFDA"/>
          </a:solidFill>
          <a:ln/>
        </p:spPr>
      </p:sp>
      <p:sp>
        <p:nvSpPr>
          <p:cNvPr id="6" name="Text 3"/>
          <p:cNvSpPr/>
          <p:nvPr/>
        </p:nvSpPr>
        <p:spPr>
          <a:xfrm>
            <a:off x="1828800" y="1097280"/>
            <a:ext cx="1828800" cy="1371600"/>
          </a:xfrm>
          <a:prstGeom prst="rect">
            <a:avLst/>
          </a:prstGeom>
          <a:noFill/>
          <a:ln/>
        </p:spPr>
        <p:txBody>
          <a:bodyPr wrap="square" rtlCol="0" anchor="ctr"/>
          <a:lstStyle/>
          <a:p>
            <a:pPr marL="0" indent="0">
              <a:buNone/>
            </a:pPr>
            <a:r>
              <a:rPr lang="en-US" sz="8000" dirty="0">
                <a:solidFill>
                  <a:srgbClr val="64FFDA">
                    <a:alpha val="30000"/>
                  </a:srgbClr>
                </a:solidFill>
                <a:latin typeface="Calibri" pitchFamily="34" charset="0"/>
                <a:ea typeface="Calibri" pitchFamily="34" charset="-122"/>
                <a:cs typeface="Calibri" pitchFamily="34" charset="-120"/>
              </a:rPr>
              <a:t>“</a:t>
            </a:r>
            <a:endParaRPr lang="en-US" sz="8000" dirty="0"/>
          </a:p>
        </p:txBody>
      </p:sp>
      <p:sp>
        <p:nvSpPr>
          <p:cNvPr id="7" name="Text 4"/>
          <p:cNvSpPr/>
          <p:nvPr/>
        </p:nvSpPr>
        <p:spPr>
          <a:xfrm>
            <a:off x="1828800" y="2286000"/>
            <a:ext cx="8531352" cy="2286000"/>
          </a:xfrm>
          <a:prstGeom prst="rect">
            <a:avLst/>
          </a:prstGeom>
          <a:noFill/>
          <a:ln/>
        </p:spPr>
        <p:txBody>
          <a:bodyPr wrap="square" rtlCol="0" anchor="ctr"/>
          <a:lstStyle/>
          <a:p>
            <a:pPr marL="0" indent="0" algn="ctr">
              <a:lnSpc>
                <a:spcPct val="140000"/>
              </a:lnSpc>
              <a:buNone/>
            </a:pPr>
            <a:r>
              <a:rPr lang="en-US" sz="2400" i="1" dirty="0">
                <a:solidFill>
                  <a:srgbClr val="E6F1FF"/>
                </a:solidFill>
                <a:latin typeface="Calibri" pitchFamily="34" charset="0"/>
                <a:ea typeface="Calibri" pitchFamily="34" charset="-122"/>
                <a:cs typeface="Calibri" pitchFamily="34" charset="-120"/>
              </a:rPr>
              <a:t>TV shows were newer on average than movies, and the result was statistically significant.</a:t>
            </a:r>
            <a:endParaRPr lang="en-US" sz="2400" dirty="0"/>
          </a:p>
        </p:txBody>
      </p:sp>
      <p:sp>
        <p:nvSpPr>
          <p:cNvPr id="8" name="Text 5"/>
          <p:cNvSpPr/>
          <p:nvPr/>
        </p:nvSpPr>
        <p:spPr>
          <a:xfrm>
            <a:off x="1828800" y="4754880"/>
            <a:ext cx="8531352" cy="548640"/>
          </a:xfrm>
          <a:prstGeom prst="rect">
            <a:avLst/>
          </a:prstGeom>
          <a:noFill/>
          <a:ln/>
        </p:spPr>
        <p:txBody>
          <a:bodyPr wrap="square" rtlCol="0" anchor="ctr"/>
          <a:lstStyle/>
          <a:p>
            <a:pPr marL="0" indent="0" algn="ctr">
              <a:buNone/>
            </a:pPr>
            <a:r>
              <a:rPr lang="en-US" sz="1400" dirty="0">
                <a:solidFill>
                  <a:srgbClr val="8892B0"/>
                </a:solidFill>
                <a:latin typeface="Calibri" pitchFamily="34" charset="0"/>
                <a:ea typeface="Calibri" pitchFamily="34" charset="-122"/>
                <a:cs typeface="Calibri" pitchFamily="34" charset="-120"/>
              </a:rPr>
              <a:t>— Key Statistical Finding</a:t>
            </a:r>
            <a:endParaRPr lang="en-US" sz="1400" dirty="0"/>
          </a:p>
        </p:txBody>
      </p:sp>
      <p:sp>
        <p:nvSpPr>
          <p:cNvPr id="9" name="Shape 6"/>
          <p:cNvSpPr/>
          <p:nvPr/>
        </p:nvSpPr>
        <p:spPr>
          <a:xfrm>
            <a:off x="5682996" y="5486400"/>
            <a:ext cx="822960" cy="36576"/>
          </a:xfrm>
          <a:prstGeom prst="rect">
            <a:avLst/>
          </a:prstGeom>
          <a:solidFill>
            <a:srgbClr val="64FFDA"/>
          </a:solidFill>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92F"/>
        </a:solidFill>
        <a:effectLst/>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64FFDA"/>
          </a:solidFill>
          <a:ln/>
        </p:spPr>
      </p:sp>
      <p:sp>
        <p:nvSpPr>
          <p:cNvPr id="3" name="Text 1"/>
          <p:cNvSpPr/>
          <p:nvPr/>
        </p:nvSpPr>
        <p:spPr>
          <a:xfrm>
            <a:off x="10817352" y="6400800"/>
            <a:ext cx="1097280" cy="320040"/>
          </a:xfrm>
          <a:prstGeom prst="rect">
            <a:avLst/>
          </a:prstGeom>
          <a:noFill/>
          <a:ln/>
        </p:spPr>
        <p:txBody>
          <a:bodyPr wrap="square" rtlCol="0" anchor="ctr"/>
          <a:lstStyle/>
          <a:p>
            <a:pPr marL="0" indent="0" algn="r">
              <a:buNone/>
            </a:pPr>
            <a:r>
              <a:rPr lang="en-US" sz="1000" dirty="0">
                <a:solidFill>
                  <a:srgbClr val="8892B0"/>
                </a:solidFill>
                <a:latin typeface="Calibri" pitchFamily="34" charset="0"/>
                <a:ea typeface="Calibri" pitchFamily="34" charset="-122"/>
                <a:cs typeface="Calibri" pitchFamily="34" charset="-120"/>
              </a:rPr>
              <a:t>10 / 10</a:t>
            </a:r>
            <a:endParaRPr lang="en-US" sz="1000" dirty="0"/>
          </a:p>
        </p:txBody>
      </p:sp>
      <p:sp>
        <p:nvSpPr>
          <p:cNvPr id="4" name="Shape 2"/>
          <p:cNvSpPr/>
          <p:nvPr/>
        </p:nvSpPr>
        <p:spPr>
          <a:xfrm>
            <a:off x="0" y="6803136"/>
            <a:ext cx="1828800" cy="54864"/>
          </a:xfrm>
          <a:prstGeom prst="rect">
            <a:avLst/>
          </a:prstGeom>
          <a:solidFill>
            <a:srgbClr val="64FFDA"/>
          </a:solidFill>
          <a:ln/>
        </p:spPr>
      </p:sp>
      <p:sp>
        <p:nvSpPr>
          <p:cNvPr id="6" name="Shape 3"/>
          <p:cNvSpPr/>
          <p:nvPr/>
        </p:nvSpPr>
        <p:spPr>
          <a:xfrm>
            <a:off x="914400" y="731520"/>
            <a:ext cx="822960" cy="54864"/>
          </a:xfrm>
          <a:prstGeom prst="rect">
            <a:avLst/>
          </a:prstGeom>
          <a:solidFill>
            <a:srgbClr val="64FFDA"/>
          </a:solidFill>
          <a:ln/>
        </p:spPr>
      </p:sp>
      <p:sp>
        <p:nvSpPr>
          <p:cNvPr id="7" name="Text 4"/>
          <p:cNvSpPr/>
          <p:nvPr/>
        </p:nvSpPr>
        <p:spPr>
          <a:xfrm>
            <a:off x="914400" y="1005840"/>
            <a:ext cx="10360152" cy="731520"/>
          </a:xfrm>
          <a:prstGeom prst="rect">
            <a:avLst/>
          </a:prstGeom>
          <a:noFill/>
          <a:ln/>
        </p:spPr>
        <p:txBody>
          <a:bodyPr wrap="square" rtlCol="0" anchor="ctr"/>
          <a:lstStyle/>
          <a:p>
            <a:pPr marL="0" indent="0">
              <a:buNone/>
            </a:pPr>
            <a:r>
              <a:rPr lang="en-US" sz="2800" b="1" dirty="0">
                <a:solidFill>
                  <a:srgbClr val="E6F1FF"/>
                </a:solidFill>
                <a:latin typeface="Calibri" pitchFamily="34" charset="0"/>
                <a:ea typeface="Calibri" pitchFamily="34" charset="-122"/>
                <a:cs typeface="Calibri" pitchFamily="34" charset="-120"/>
              </a:rPr>
              <a:t>Key Takeaways</a:t>
            </a:r>
            <a:endParaRPr lang="en-US" sz="2800" dirty="0"/>
          </a:p>
        </p:txBody>
      </p:sp>
      <p:sp>
        <p:nvSpPr>
          <p:cNvPr id="8" name="Text 5"/>
          <p:cNvSpPr/>
          <p:nvPr/>
        </p:nvSpPr>
        <p:spPr>
          <a:xfrm>
            <a:off x="914400" y="2011680"/>
            <a:ext cx="10360152" cy="4114800"/>
          </a:xfrm>
          <a:prstGeom prst="rect">
            <a:avLst/>
          </a:prstGeom>
          <a:noFill/>
          <a:ln/>
        </p:spPr>
        <p:txBody>
          <a:bodyPr wrap="square" rtlCol="0" anchor="t"/>
          <a:lstStyle/>
          <a:p>
            <a:pPr>
              <a:lnSpc>
                <a:spcPct val="120000"/>
              </a:lnSpc>
              <a:spcAft>
                <a:spcPts val="1000"/>
              </a:spcAft>
            </a:pPr>
            <a:r>
              <a:rPr lang="en-US" sz="1800" b="1" dirty="0">
                <a:solidFill>
                  <a:srgbClr val="A8B2D1"/>
                </a:solidFill>
                <a:latin typeface="Calibri" pitchFamily="34" charset="0"/>
                <a:ea typeface="Calibri" pitchFamily="34" charset="-122"/>
                <a:cs typeface="Calibri" pitchFamily="34" charset="-120"/>
              </a:rPr>
              <a:t>8,807 titles</a:t>
            </a:r>
            <a:r>
              <a:rPr lang="en-US" sz="1800" dirty="0">
                <a:solidFill>
                  <a:srgbClr val="A8B2D1"/>
                </a:solidFill>
                <a:latin typeface="Calibri" pitchFamily="34" charset="0"/>
                <a:ea typeface="Calibri" pitchFamily="34" charset="-122"/>
                <a:cs typeface="Calibri" pitchFamily="34" charset="-120"/>
              </a:rPr>
              <a:t> were analyzed from the Netflix dataset</a:t>
            </a:r>
            <a:endParaRPr lang="en-US" sz="1800" dirty="0"/>
          </a:p>
          <a:p>
            <a:pPr>
              <a:lnSpc>
                <a:spcPct val="120000"/>
              </a:lnSpc>
              <a:spcAft>
                <a:spcPts val="1000"/>
              </a:spcAft>
            </a:pPr>
            <a:r>
              <a:rPr lang="en-US" sz="1800" b="1" dirty="0">
                <a:solidFill>
                  <a:srgbClr val="A8B2D1"/>
                </a:solidFill>
                <a:latin typeface="Calibri" pitchFamily="34" charset="0"/>
                <a:ea typeface="Calibri" pitchFamily="34" charset="-122"/>
                <a:cs typeface="Calibri" pitchFamily="34" charset="-120"/>
              </a:rPr>
              <a:t>Movies dominate</a:t>
            </a:r>
            <a:r>
              <a:rPr lang="en-US" sz="1800" dirty="0">
                <a:solidFill>
                  <a:srgbClr val="A8B2D1"/>
                </a:solidFill>
                <a:latin typeface="Calibri" pitchFamily="34" charset="0"/>
                <a:ea typeface="Calibri" pitchFamily="34" charset="-122"/>
                <a:cs typeface="Calibri" pitchFamily="34" charset="-120"/>
              </a:rPr>
              <a:t> the catalog with 6,131 titles</a:t>
            </a:r>
            <a:endParaRPr lang="en-US" sz="1800" dirty="0"/>
          </a:p>
          <a:p>
            <a:pPr>
              <a:lnSpc>
                <a:spcPct val="120000"/>
              </a:lnSpc>
              <a:spcAft>
                <a:spcPts val="1000"/>
              </a:spcAft>
            </a:pPr>
            <a:r>
              <a:rPr lang="en-US" sz="1800" b="1" dirty="0">
                <a:solidFill>
                  <a:srgbClr val="A8B2D1"/>
                </a:solidFill>
                <a:latin typeface="Calibri" pitchFamily="34" charset="0"/>
                <a:ea typeface="Calibri" pitchFamily="34" charset="-122"/>
                <a:cs typeface="Calibri" pitchFamily="34" charset="-120"/>
              </a:rPr>
              <a:t>Catalog additions peaked</a:t>
            </a:r>
            <a:r>
              <a:rPr lang="en-US" sz="1800" dirty="0">
                <a:solidFill>
                  <a:srgbClr val="A8B2D1"/>
                </a:solidFill>
                <a:latin typeface="Calibri" pitchFamily="34" charset="0"/>
                <a:ea typeface="Calibri" pitchFamily="34" charset="-122"/>
                <a:cs typeface="Calibri" pitchFamily="34" charset="-120"/>
              </a:rPr>
              <a:t> around 2019 and 2020</a:t>
            </a:r>
            <a:endParaRPr lang="en-US" sz="1800" dirty="0"/>
          </a:p>
          <a:p>
            <a:pPr>
              <a:lnSpc>
                <a:spcPct val="120000"/>
              </a:lnSpc>
              <a:spcAft>
                <a:spcPts val="1000"/>
              </a:spcAft>
            </a:pPr>
            <a:r>
              <a:rPr lang="en-US" sz="1800" b="1" dirty="0">
                <a:solidFill>
                  <a:srgbClr val="A8B2D1"/>
                </a:solidFill>
                <a:latin typeface="Calibri" pitchFamily="34" charset="0"/>
                <a:ea typeface="Calibri" pitchFamily="34" charset="-122"/>
                <a:cs typeface="Calibri" pitchFamily="34" charset="-120"/>
              </a:rPr>
              <a:t>TV-MA and TV-14</a:t>
            </a:r>
            <a:r>
              <a:rPr lang="en-US" sz="1800" dirty="0">
                <a:solidFill>
                  <a:srgbClr val="A8B2D1"/>
                </a:solidFill>
                <a:latin typeface="Calibri" pitchFamily="34" charset="0"/>
                <a:ea typeface="Calibri" pitchFamily="34" charset="-122"/>
                <a:cs typeface="Calibri" pitchFamily="34" charset="-120"/>
              </a:rPr>
              <a:t> are the most common ratings</a:t>
            </a:r>
            <a:endParaRPr lang="en-US" sz="1800" dirty="0"/>
          </a:p>
          <a:p>
            <a:pPr>
              <a:lnSpc>
                <a:spcPct val="120000"/>
              </a:lnSpc>
              <a:spcAft>
                <a:spcPts val="1000"/>
              </a:spcAft>
            </a:pPr>
            <a:r>
              <a:rPr lang="en-US" sz="1800" b="1" dirty="0">
                <a:solidFill>
                  <a:srgbClr val="A8B2D1"/>
                </a:solidFill>
                <a:latin typeface="Calibri" pitchFamily="34" charset="0"/>
                <a:ea typeface="Calibri" pitchFamily="34" charset="-122"/>
                <a:cs typeface="Calibri" pitchFamily="34" charset="-120"/>
              </a:rPr>
              <a:t>TV shows are newer</a:t>
            </a:r>
            <a:r>
              <a:rPr lang="en-US" sz="1800" dirty="0">
                <a:solidFill>
                  <a:srgbClr val="A8B2D1"/>
                </a:solidFill>
                <a:latin typeface="Calibri" pitchFamily="34" charset="0"/>
                <a:ea typeface="Calibri" pitchFamily="34" charset="-122"/>
                <a:cs typeface="Calibri" pitchFamily="34" charset="-120"/>
              </a:rPr>
              <a:t> on average than movies</a:t>
            </a:r>
            <a:endParaRPr 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TotalTime>
  <Words>676</Words>
  <Application>Microsoft Office PowerPoint</Application>
  <PresentationFormat>Widescreen</PresentationFormat>
  <Paragraphs>74</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Wael Adel</cp:lastModifiedBy>
  <cp:revision>4</cp:revision>
  <dcterms:created xsi:type="dcterms:W3CDTF">2026-05-03T18:37:45Z</dcterms:created>
  <dcterms:modified xsi:type="dcterms:W3CDTF">2026-05-03T19:51:44Z</dcterms:modified>
</cp:coreProperties>
</file>